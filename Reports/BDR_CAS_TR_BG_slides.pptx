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3429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6858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0287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3305176"/>
            <a:ext cx="7772401" cy="1021557"/>
          </a:xfrm>
          <a:prstGeom prst="rect">
            <a:avLst/>
          </a:prstGeom>
        </p:spPr>
        <p:txBody>
          <a:bodyPr anchor="t"/>
          <a:lstStyle>
            <a:lvl1pPr algn="l">
              <a:defRPr b="1" cap="all" sz="3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180034"/>
            <a:ext cx="7772401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1pPr>
            <a:lvl2pPr marL="0" indent="3429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2pPr>
            <a:lvl3pPr marL="0" indent="6858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3pPr>
            <a:lvl4pPr marL="0" indent="10287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4pPr>
            <a:lvl5pPr marL="0" indent="13716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200150"/>
            <a:ext cx="4038600" cy="339447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 marL="742950" indent="-400050">
              <a:defRPr sz="2100"/>
            </a:lvl2pPr>
            <a:lvl3pPr marL="1165860" indent="-480060">
              <a:defRPr sz="2100"/>
            </a:lvl3pPr>
            <a:lvl4pPr marL="1582615" indent="-553915">
              <a:defRPr sz="2100"/>
            </a:lvl4pPr>
            <a:lvl5pPr marL="1925515" indent="-553915"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151334"/>
            <a:ext cx="4040188" cy="47982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b="1" sz="1800"/>
            </a:lvl1pPr>
            <a:lvl2pPr marL="0" indent="342900">
              <a:spcBef>
                <a:spcPts val="400"/>
              </a:spcBef>
              <a:buSzTx/>
              <a:buFontTx/>
              <a:buNone/>
              <a:defRPr b="1" sz="1800"/>
            </a:lvl2pPr>
            <a:lvl3pPr marL="0" indent="685800">
              <a:spcBef>
                <a:spcPts val="400"/>
              </a:spcBef>
              <a:buSzTx/>
              <a:buFontTx/>
              <a:buNone/>
              <a:defRPr b="1" sz="1800"/>
            </a:lvl3pPr>
            <a:lvl4pPr marL="0" indent="1028700">
              <a:spcBef>
                <a:spcPts val="400"/>
              </a:spcBef>
              <a:buSzTx/>
              <a:buFontTx/>
              <a:buNone/>
              <a:defRPr b="1" sz="1800"/>
            </a:lvl4pPr>
            <a:lvl5pPr marL="0" indent="1371600">
              <a:spcBef>
                <a:spcPts val="400"/>
              </a:spcBef>
              <a:buSzTx/>
              <a:buFontTx/>
              <a:buNone/>
              <a:defRPr b="1"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6" y="1151334"/>
            <a:ext cx="4041776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400"/>
              </a:spcBef>
              <a:buSzTx/>
              <a:buFontTx/>
              <a:buNone/>
              <a:defRPr b="1" sz="18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1" y="204786"/>
            <a:ext cx="3008314" cy="871539"/>
          </a:xfrm>
          <a:prstGeom prst="rect">
            <a:avLst/>
          </a:prstGeom>
        </p:spPr>
        <p:txBody>
          <a:bodyPr anchor="b"/>
          <a:lstStyle>
            <a:lvl1pPr algn="l">
              <a:defRPr b="1" sz="15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200" y="1076326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FontTx/>
              <a:buNone/>
              <a:defRPr sz="10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3600450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b="1" sz="15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459581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4025503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FontTx/>
              <a:buNone/>
              <a:defRPr sz="1000"/>
            </a:lvl1pPr>
            <a:lvl2pPr marL="0" indent="342900">
              <a:spcBef>
                <a:spcPts val="200"/>
              </a:spcBef>
              <a:buSzTx/>
              <a:buFontTx/>
              <a:buNone/>
              <a:defRPr sz="1000"/>
            </a:lvl2pPr>
            <a:lvl3pPr marL="0" indent="685800">
              <a:spcBef>
                <a:spcPts val="200"/>
              </a:spcBef>
              <a:buSzTx/>
              <a:buFontTx/>
              <a:buNone/>
              <a:defRPr sz="1000"/>
            </a:lvl3pPr>
            <a:lvl4pPr marL="0" indent="1028700">
              <a:spcBef>
                <a:spcPts val="200"/>
              </a:spcBef>
              <a:buSzTx/>
              <a:buFontTx/>
              <a:buNone/>
              <a:defRPr sz="1000"/>
            </a:lvl4pPr>
            <a:lvl5pPr marL="0" indent="1371600">
              <a:spcBef>
                <a:spcPts val="200"/>
              </a:spcBef>
              <a:buSzTx/>
              <a:buFontTx/>
              <a:buNone/>
              <a:defRPr sz="1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66797" y="4801228"/>
            <a:ext cx="220003" cy="20591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34785" marR="0" indent="-391885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143000" marR="0" indent="-45720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5773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19202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2631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26060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29489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3291840" marR="0" indent="-54864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/>
          <a:lstStyle/>
          <a:p>
            <a:pPr defTabSz="240029">
              <a:defRPr sz="2310"/>
            </a:pPr>
            <a:r>
              <a:t>Behavioral Delta Risk </a:t>
            </a:r>
          </a:p>
          <a:p>
            <a:pPr defTabSz="240029">
              <a:defRPr sz="2310"/>
            </a:pPr>
            <a:r>
              <a:t>-  Calibrated Attrition Scoring for Targeted Retention - </a:t>
            </a:r>
          </a:p>
          <a:p>
            <a:pPr defTabSz="240029">
              <a:defRPr sz="2310"/>
            </a:pPr>
            <a:r>
              <a:t>Stakeholder Brief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br/>
            <a:br/>
            <a:r>
              <a:t>Geoffrey Bruder</a:t>
            </a:r>
          </a:p>
        </p:txBody>
      </p:sp>
      <p:sp>
        <p:nvSpPr>
          <p:cNvPr id="96" name="Date Placeholder 3"/>
          <p:cNvSpPr txBox="1"/>
          <p:nvPr/>
        </p:nvSpPr>
        <p:spPr>
          <a:xfrm>
            <a:off x="502919" y="4801228"/>
            <a:ext cx="20421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2026-05-06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  <a:r>
              <a:t>This project evaluates whether short‑term behavioral deltas improve attrition prediction beyond static demographic and credit features. The practical goal is a calibrated probability score suitable for a pilot retention campaign. The primary stakeholder is the retention manager who needs a reliable prioritized list and probability thresholds to set outreach.</a:t>
            </a:r>
          </a:p>
        </p:txBody>
      </p:sp>
      <p:sp>
        <p:nvSpPr>
          <p:cNvPr id="99" name="Slide Number"/>
          <p:cNvSpPr txBox="1"/>
          <p:nvPr>
            <p:ph type="sldNum" sz="quarter" idx="4294967295"/>
          </p:nvPr>
        </p:nvSpPr>
        <p:spPr>
          <a:xfrm>
            <a:off x="8524728" y="4801228"/>
            <a:ext cx="162073" cy="2059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0" name="Background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</p:spPr>
        <p:txBody>
          <a:bodyPr/>
          <a:lstStyle>
            <a:lvl1pPr algn="l">
              <a:spcBef>
                <a:spcPts val="500"/>
              </a:spcBef>
              <a:buFont typeface="Arial"/>
              <a:defRPr i="1" sz="2400"/>
            </a:lvl1pPr>
          </a:lstStyle>
          <a:p>
            <a:pPr/>
            <a:r>
              <a:t>Background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/>
            <a:r>
              <a:t>Outreach is costly; prioritization must maximize ROI.</a:t>
            </a:r>
            <a:br/>
          </a:p>
          <a:p>
            <a:pPr/>
            <a:r>
              <a:t>Short‑term behavioral deltas (recent drops in spend/count, fewer contacts) may signal imminent attrition.</a:t>
            </a:r>
            <a:br/>
          </a:p>
          <a:p>
            <a:pPr/>
            <a:r>
              <a:t>Goal: produce calibrated probabilities for a pilot retention campaign.</a:t>
            </a:r>
          </a:p>
        </p:txBody>
      </p:sp>
      <p:sp>
        <p:nvSpPr>
          <p:cNvPr id="103" name="Slide Number"/>
          <p:cNvSpPr txBox="1"/>
          <p:nvPr>
            <p:ph type="sldNum" sz="quarter" idx="4294967295"/>
          </p:nvPr>
        </p:nvSpPr>
        <p:spPr>
          <a:xfrm>
            <a:off x="8524728" y="4801228"/>
            <a:ext cx="162073" cy="2059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4" name="Motivation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</p:spPr>
        <p:txBody>
          <a:bodyPr/>
          <a:lstStyle>
            <a:lvl1pPr algn="l">
              <a:spcBef>
                <a:spcPts val="500"/>
              </a:spcBef>
              <a:buFont typeface="Arial"/>
              <a:defRPr i="1" sz="2400"/>
            </a:lvl1pPr>
          </a:lstStyle>
          <a:p>
            <a:pPr/>
            <a:r>
              <a:t>Motivation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/>
            <a:r>
              <a:t>Question: Do short‑term behavioral deltas improve attrition prediction beyond static features?</a:t>
            </a:r>
            <a:br/>
          </a:p>
          <a:p>
            <a:pPr/>
            <a:r>
              <a:t>Hypothesis: Negative deltas increase attrition risk after controlling for demographics/credit.</a:t>
            </a:r>
            <a:br/>
          </a:p>
          <a:p>
            <a:pPr/>
            <a:r>
              <a:t>Prediction: Models with delta features → higher AUC and lower Brier.</a:t>
            </a:r>
          </a:p>
        </p:txBody>
      </p:sp>
      <p:sp>
        <p:nvSpPr>
          <p:cNvPr id="107" name="Slide Number"/>
          <p:cNvSpPr txBox="1"/>
          <p:nvPr>
            <p:ph type="sldNum" sz="quarter" idx="4294967295"/>
          </p:nvPr>
        </p:nvSpPr>
        <p:spPr>
          <a:xfrm>
            <a:off x="8524728" y="4801228"/>
            <a:ext cx="162073" cy="2059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8" name="Question, Hypothesis, Prediction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</p:spPr>
        <p:txBody>
          <a:bodyPr/>
          <a:lstStyle>
            <a:lvl1pPr algn="l">
              <a:spcBef>
                <a:spcPts val="500"/>
              </a:spcBef>
              <a:buFont typeface="Arial"/>
              <a:defRPr i="1" sz="2400"/>
            </a:lvl1pPr>
          </a:lstStyle>
          <a:p>
            <a:pPr/>
            <a:r>
              <a:t>Question, Hypothesis, Prediction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231006" indent="-231006" defTabSz="329184">
              <a:buFontTx/>
              <a:defRPr sz="2304"/>
            </a:pPr>
            <a:r>
              <a:t>Dataset: anonymized BankChurners - (available at source/ in repo)</a:t>
            </a:r>
          </a:p>
          <a:p>
            <a:pPr marL="231006" indent="-231006" defTabSz="329184">
              <a:buFontTx/>
              <a:defRPr sz="2304"/>
            </a:pPr>
            <a:r>
              <a:t>Rows in test set: 3039 </a:t>
            </a:r>
          </a:p>
          <a:p>
            <a:pPr marL="231006" indent="-231006" defTabSz="329184">
              <a:buFontTx/>
              <a:defRPr sz="2304"/>
            </a:pPr>
            <a:r>
              <a:t>Predictor count (approx): see pipeline</a:t>
            </a:r>
          </a:p>
          <a:p>
            <a:pPr marL="231006" indent="-231006" defTabSz="329184">
              <a:buFontTx/>
              <a:defRPr sz="2304"/>
            </a:pPr>
            <a:r>
              <a:t>Key fields: demographics, credit metrics, transaction aggregates, quarter‑to‑quarter deltas.</a:t>
            </a:r>
          </a:p>
          <a:p>
            <a:pPr marL="231006" indent="-231006" defTabSz="329184">
              <a:buFontTx/>
              <a:defRPr sz="2304"/>
            </a:pPr>
            <a:r>
              <a:t>Response: target_attrit (1 = attrited).</a:t>
            </a:r>
          </a:p>
          <a:p>
            <a:pPr marL="231006" indent="-231006" defTabSz="329184">
              <a:buFontTx/>
              <a:defRPr sz="2304"/>
            </a:pPr>
            <a:r>
              <a:t>Note: PseudoID preserved; identifiers and flagged leakage columns removed.</a:t>
            </a:r>
          </a:p>
        </p:txBody>
      </p:sp>
      <p:sp>
        <p:nvSpPr>
          <p:cNvPr id="111" name="Slide Number"/>
          <p:cNvSpPr txBox="1"/>
          <p:nvPr>
            <p:ph type="sldNum" sz="quarter" idx="4294967295"/>
          </p:nvPr>
        </p:nvSpPr>
        <p:spPr>
          <a:xfrm>
            <a:off x="8524728" y="4801228"/>
            <a:ext cx="162073" cy="2059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2" name="Data at a glance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</p:spPr>
        <p:txBody>
          <a:bodyPr/>
          <a:lstStyle>
            <a:lvl1pPr algn="l">
              <a:spcBef>
                <a:spcPts val="500"/>
              </a:spcBef>
              <a:buFont typeface="Arial"/>
              <a:defRPr i="1" sz="2400"/>
            </a:lvl1pPr>
          </a:lstStyle>
          <a:p>
            <a:pPr/>
            <a:r>
              <a:t>Data at a glance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342899" indent="-342899">
              <a:defRPr sz="2100"/>
            </a:pPr>
            <a:r>
              <a:t>Amt_Chg_Q4Q1 — </a:t>
            </a:r>
            <a:r>
              <a:rPr b="1"/>
              <a:t>relative change in transaction amount (Q4 vs Q1).</a:t>
            </a:r>
            <a:br>
              <a:rPr b="1"/>
            </a:br>
          </a:p>
          <a:p>
            <a:pPr marL="342899" indent="-342899">
              <a:defRPr sz="2100"/>
            </a:pPr>
            <a:r>
              <a:t>Ct_Chg_Q4Q1 — </a:t>
            </a:r>
            <a:r>
              <a:rPr b="1"/>
              <a:t>relative change in transaction count.</a:t>
            </a:r>
            <a:br>
              <a:rPr b="1"/>
            </a:br>
          </a:p>
          <a:p>
            <a:pPr marL="342899" indent="-342899">
              <a:defRPr sz="2100"/>
            </a:pPr>
            <a:r>
              <a:t>Large_Amt_Drop / Large_Ct_Drop — </a:t>
            </a:r>
            <a:r>
              <a:rPr b="1"/>
              <a:t>binary flags (threshold 0.7).</a:t>
            </a:r>
            <a:br>
              <a:rPr b="1"/>
            </a:br>
          </a:p>
          <a:p>
            <a:pPr marL="342899" indent="-342899">
              <a:defRPr sz="2100"/>
            </a:pPr>
            <a:r>
              <a:t>Recent_Contact_Reduction — </a:t>
            </a:r>
            <a:r>
              <a:rPr b="1"/>
              <a:t>contacts ≤ 1.</a:t>
            </a:r>
          </a:p>
        </p:txBody>
      </p:sp>
      <p:sp>
        <p:nvSpPr>
          <p:cNvPr id="115" name="Slide Number"/>
          <p:cNvSpPr txBox="1"/>
          <p:nvPr>
            <p:ph type="sldNum" sz="quarter" idx="4294967295"/>
          </p:nvPr>
        </p:nvSpPr>
        <p:spPr>
          <a:xfrm>
            <a:off x="8524728" y="4801228"/>
            <a:ext cx="162073" cy="2059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6" name="Engineered features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</p:spPr>
        <p:txBody>
          <a:bodyPr/>
          <a:lstStyle>
            <a:lvl1pPr algn="l">
              <a:spcBef>
                <a:spcPts val="500"/>
              </a:spcBef>
              <a:buFont typeface="Arial"/>
              <a:defRPr i="1" sz="2400"/>
            </a:lvl1pPr>
          </a:lstStyle>
          <a:p>
            <a:pPr/>
            <a:r>
              <a:t>Engineered features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182879" indent="-182879" defTabSz="260604">
              <a:spcBef>
                <a:spcPts val="400"/>
              </a:spcBef>
              <a:buFontTx/>
              <a:defRPr sz="1824"/>
            </a:pPr>
            <a:r>
              <a:t>Median imputation; rare‑level consolidation; dummy encoding; zero‑variance removal; winsorize outliers.</a:t>
            </a:r>
            <a:br/>
          </a:p>
          <a:p>
            <a:pPr marL="182879" indent="-182879" defTabSz="260604">
              <a:spcBef>
                <a:spcPts val="400"/>
              </a:spcBef>
              <a:buFontTx/>
              <a:defRPr sz="1824"/>
            </a:pPr>
            <a:r>
              <a:t>Targeted leakage audit removed model‑derived scores and identifiers                      (e.g., Naive_Bayes outputs, CLIENTNUM).</a:t>
            </a:r>
            <a:br/>
          </a:p>
          <a:p>
            <a:pPr marL="182879" indent="-182879" defTabSz="260604">
              <a:spcBef>
                <a:spcPts val="400"/>
              </a:spcBef>
              <a:buFontTx/>
              <a:defRPr sz="1824"/>
            </a:pPr>
            <a:r>
              <a:t>Transformations implemented in a reproducible recipe applied only on training data.</a:t>
            </a:r>
          </a:p>
          <a:p>
            <a:pPr marL="182879" indent="-182879" defTabSz="260604">
              <a:spcBef>
                <a:spcPts val="400"/>
              </a:spcBef>
              <a:buFontTx/>
              <a:defRPr sz="1824"/>
            </a:pPr>
          </a:p>
          <a:p>
            <a:pPr marL="182879" indent="-182879" defTabSz="260604">
              <a:spcBef>
                <a:spcPts val="400"/>
              </a:spcBef>
              <a:buFontTx/>
              <a:defRPr sz="1824"/>
            </a:pPr>
            <a:r>
              <a:t>- </a:t>
            </a:r>
            <a:r>
              <a:rPr b="1"/>
              <a:t>Final leakage re‑audit required</a:t>
            </a:r>
            <a:r>
              <a:t> — audit performed;                                                       we recommend one more temporal leakage check before production.</a:t>
            </a:r>
          </a:p>
        </p:txBody>
      </p:sp>
      <p:sp>
        <p:nvSpPr>
          <p:cNvPr id="119" name="Slide Number"/>
          <p:cNvSpPr txBox="1"/>
          <p:nvPr>
            <p:ph type="sldNum" sz="quarter" idx="4294967295"/>
          </p:nvPr>
        </p:nvSpPr>
        <p:spPr>
          <a:xfrm>
            <a:off x="8524728" y="4801228"/>
            <a:ext cx="162073" cy="2059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0" name="Preprocessing &amp; leakage controls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</p:spPr>
        <p:txBody>
          <a:bodyPr/>
          <a:lstStyle>
            <a:lvl1pPr algn="l">
              <a:spcBef>
                <a:spcPts val="500"/>
              </a:spcBef>
              <a:buFont typeface="Arial"/>
              <a:defRPr i="1" sz="2400"/>
            </a:lvl1pPr>
          </a:lstStyle>
          <a:p>
            <a:pPr/>
            <a:r>
              <a:t>Preprocessing &amp; leakage controls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194911" indent="-194911" defTabSz="277749">
              <a:spcBef>
                <a:spcPts val="400"/>
              </a:spcBef>
              <a:buFontTx/>
              <a:defRPr sz="1782"/>
            </a:pPr>
            <a:r>
              <a:t>Baselines:</a:t>
            </a:r>
            <a:r>
              <a:t> static logistic. </a:t>
            </a:r>
            <a:r>
              <a:t>Enhanced:</a:t>
            </a:r>
            <a:r>
              <a:t> logistic + deltas.</a:t>
            </a:r>
            <a:br/>
          </a:p>
          <a:p>
            <a:pPr marL="194911" indent="-194911" defTabSz="277749">
              <a:spcBef>
                <a:spcPts val="400"/>
              </a:spcBef>
              <a:buFontTx/>
              <a:defRPr sz="1782"/>
            </a:pPr>
            <a:r>
              <a:t>Ensembles:</a:t>
            </a:r>
            <a:r>
              <a:t> Random Forest (tuned), XGBoost (direct xgboost CV fallback used).</a:t>
            </a:r>
            <a:br/>
          </a:p>
          <a:p>
            <a:pPr marL="194911" indent="-194911" defTabSz="277749">
              <a:spcBef>
                <a:spcPts val="400"/>
              </a:spcBef>
              <a:buFontTx/>
              <a:defRPr sz="1782"/>
            </a:pPr>
            <a:r>
              <a:t>Validation:</a:t>
            </a:r>
            <a:r>
              <a:t> stratified 70/30 train/test; repeated 5‑fold CV × 5 for tuning.</a:t>
            </a:r>
            <a:br/>
          </a:p>
          <a:p>
            <a:pPr marL="194911" indent="-194911" defTabSz="277749">
              <a:spcBef>
                <a:spcPts val="400"/>
              </a:spcBef>
              <a:buFontTx/>
              <a:defRPr sz="1782"/>
            </a:pPr>
            <a:r>
              <a:t>Metrics:</a:t>
            </a:r>
            <a:r>
              <a:t> AUC (discrimination), Brier (calibration), decision thresholds.</a:t>
            </a:r>
          </a:p>
          <a:p>
            <a:pPr marL="194911" indent="-194911" defTabSz="277749">
              <a:spcBef>
                <a:spcPts val="400"/>
              </a:spcBef>
              <a:buFontTx/>
              <a:defRPr sz="1782"/>
            </a:pPr>
          </a:p>
          <a:p>
            <a:pPr marL="194911" indent="-194911" defTabSz="277749">
              <a:spcBef>
                <a:spcPts val="400"/>
              </a:spcBef>
              <a:buFontTx/>
              <a:defRPr sz="1782"/>
            </a:pPr>
            <a:r>
              <a:t>Implementation detail for reproducibility:</a:t>
            </a:r>
            <a:br/>
            <a:r>
              <a:t>Reconcile caret xgbTree behavior across environments</a:t>
            </a:r>
            <a:r>
              <a:t> — implemented direct xgboost CV fallback and documented divergence.</a:t>
            </a:r>
          </a:p>
        </p:txBody>
      </p:sp>
      <p:sp>
        <p:nvSpPr>
          <p:cNvPr id="123" name="Slide Number"/>
          <p:cNvSpPr txBox="1"/>
          <p:nvPr>
            <p:ph type="sldNum" sz="quarter" idx="4294967295"/>
          </p:nvPr>
        </p:nvSpPr>
        <p:spPr>
          <a:xfrm>
            <a:off x="8524728" y="4801228"/>
            <a:ext cx="162073" cy="2059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4" name="Modeling overview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</p:spPr>
        <p:txBody>
          <a:bodyPr/>
          <a:lstStyle>
            <a:lvl1pPr algn="l">
              <a:spcBef>
                <a:spcPts val="500"/>
              </a:spcBef>
              <a:buFont typeface="Arial"/>
              <a:defRPr i="1" sz="2400"/>
            </a:lvl1pPr>
          </a:lstStyle>
          <a:p>
            <a:pPr/>
            <a:r>
              <a:t>Modeling overview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312039" algn="ctr" defTabSz="312039">
              <a:buSzTx/>
              <a:buNone/>
              <a:defRPr b="1" sz="2184"/>
            </a:pPr>
            <a:r>
              <a:t>Selected model headline metrics:</a:t>
            </a:r>
          </a:p>
          <a:p>
            <a:pPr marL="0" indent="312039" algn="ctr" defTabSz="312039">
              <a:buSzTx/>
              <a:buNone/>
              <a:defRPr b="1" sz="2184"/>
            </a:pPr>
            <a:r>
              <a:t>XGBoost AUC: 0.9927</a:t>
            </a:r>
          </a:p>
          <a:p>
            <a:pPr marL="0" indent="312039" algn="ctr" defTabSz="312039">
              <a:buSzTx/>
              <a:buNone/>
              <a:defRPr b="1" sz="2184"/>
            </a:pPr>
            <a:r>
              <a:t>XGBoost Brier: 0.02282</a:t>
            </a:r>
          </a:p>
          <a:p>
            <a:pPr marL="0" indent="0" defTabSz="312039">
              <a:buSzTx/>
              <a:buNone/>
              <a:defRPr b="1" sz="2184"/>
            </a:pPr>
          </a:p>
          <a:p>
            <a:pPr marL="0" indent="0" defTabSz="312039">
              <a:buSzTx/>
              <a:buFontTx/>
              <a:buNone/>
              <a:defRPr b="1" sz="2184"/>
            </a:pPr>
            <a:r>
              <a:rPr b="0" i="1"/>
              <a:t>Summary (from artifacts):</a:t>
            </a:r>
          </a:p>
          <a:p>
            <a:pPr marL="0" indent="0" algn="ctr" defTabSz="312039">
              <a:buSzTx/>
              <a:buFontTx/>
              <a:buNone/>
              <a:defRPr b="1" sz="2184"/>
            </a:pPr>
            <a:r>
              <a:rPr b="0"/>
              <a:t>Logit Baseline:</a:t>
            </a:r>
            <a:r>
              <a:t> AUC 0.8724 | Brier 0.0941</a:t>
            </a:r>
            <a:br/>
            <a:r>
              <a:rPr b="0"/>
              <a:t>Logit Enhanced:</a:t>
            </a:r>
            <a:r>
              <a:t> AUC 0.9148 | Brier 0.0739</a:t>
            </a:r>
            <a:br>
              <a:rPr b="0"/>
            </a:br>
            <a:r>
              <a:rPr b="0"/>
              <a:t>Random Forest (tuned):</a:t>
            </a:r>
            <a:r>
              <a:t> AUC ≈ 0.9867 | Brier ≈ 0.03417</a:t>
            </a:r>
            <a:br/>
            <a:r>
              <a:rPr b="0"/>
              <a:t>XGBoost (final, calibrated):</a:t>
            </a:r>
            <a:r>
              <a:t> AUC ≈ 0.9927 | Brier ≈ 0.02282</a:t>
            </a:r>
          </a:p>
        </p:txBody>
      </p:sp>
      <p:sp>
        <p:nvSpPr>
          <p:cNvPr id="127" name="Slide Number"/>
          <p:cNvSpPr txBox="1"/>
          <p:nvPr>
            <p:ph type="sldNum" sz="quarter" idx="4294967295"/>
          </p:nvPr>
        </p:nvSpPr>
        <p:spPr>
          <a:xfrm>
            <a:off x="8524728" y="4801228"/>
            <a:ext cx="162073" cy="2059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8" name="Key numeric results (holdout)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</p:spPr>
        <p:txBody>
          <a:bodyPr/>
          <a:lstStyle>
            <a:lvl1pPr algn="l">
              <a:spcBef>
                <a:spcPts val="500"/>
              </a:spcBef>
              <a:buFont typeface="Arial"/>
              <a:defRPr i="1" sz="2400"/>
            </a:lvl1pPr>
          </a:lstStyle>
          <a:p>
            <a:pPr/>
            <a:r>
              <a:t>Key numeric results (holdout)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2627" y="366630"/>
            <a:ext cx="7698746" cy="4806928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2" name="Visual diagnostics:"/>
          <p:cNvSpPr txBox="1"/>
          <p:nvPr/>
        </p:nvSpPr>
        <p:spPr>
          <a:xfrm>
            <a:off x="190874" y="69056"/>
            <a:ext cx="8495926" cy="593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defTabSz="342900">
              <a:spcBef>
                <a:spcPts val="500"/>
              </a:spcBef>
              <a:buFont typeface="Arial"/>
              <a:defRPr i="1" sz="2400"/>
            </a:lvl1pPr>
          </a:lstStyle>
          <a:p>
            <a:pPr/>
            <a:r>
              <a:t>Visual diagnostics: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6313" y="800100"/>
            <a:ext cx="6731374" cy="4202922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6" name="Calibration: Reliability diagram"/>
          <p:cNvSpPr txBox="1"/>
          <p:nvPr>
            <p:ph type="title"/>
          </p:nvPr>
        </p:nvSpPr>
        <p:spPr>
          <a:xfrm>
            <a:off x="457201" y="-1"/>
            <a:ext cx="3958083" cy="518666"/>
          </a:xfrm>
          <a:prstGeom prst="rect">
            <a:avLst/>
          </a:prstGeom>
        </p:spPr>
        <p:txBody>
          <a:bodyPr/>
          <a:lstStyle>
            <a:lvl1pPr>
              <a:spcBef>
                <a:spcPts val="200"/>
              </a:spcBef>
              <a:buFont typeface="Arial"/>
              <a:defRPr b="0" i="1" sz="2400"/>
            </a:lvl1pPr>
          </a:lstStyle>
          <a:p>
            <a:pPr/>
            <a:r>
              <a:t>Calibration: Reliability diagram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Content Placeholder 5"/>
          <p:cNvGraphicFramePr/>
          <p:nvPr/>
        </p:nvGraphicFramePr>
        <p:xfrm>
          <a:off x="1800860" y="1526130"/>
          <a:ext cx="5554980" cy="1830824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791754"/>
                <a:gridCol w="791754"/>
                <a:gridCol w="791754"/>
                <a:gridCol w="791754"/>
                <a:gridCol w="791754"/>
                <a:gridCol w="791754"/>
                <a:gridCol w="791754"/>
              </a:tblGrid>
              <a:tr h="448833">
                <a:tc>
                  <a:txBody>
                    <a:bodyPr/>
                    <a:lstStyle/>
                    <a:p>
                      <a:pPr defTabSz="3429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threshold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defTabSz="3429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TP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defTabSz="3429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FP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defTabSz="3429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TN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defTabSz="3429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FN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defTabSz="3429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defTabSz="3429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283601"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0.01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487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458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2092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0.5153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0.9959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</a:tr>
              <a:tr h="270901"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0.02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486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338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2212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3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0.5898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0.9939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70901"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0.05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479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213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2337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10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0.6922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0.9796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70901"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0.10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472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143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2407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17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0.7675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0.9652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270901"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0.20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462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96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2454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27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0.8280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342900">
                        <a:defRPr sz="1800"/>
                      </a:pPr>
                      <a:r>
                        <a:rPr sz="1300"/>
                        <a:t>0.9448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39" name="TextBox 3"/>
          <p:cNvSpPr txBox="1"/>
          <p:nvPr/>
        </p:nvSpPr>
        <p:spPr>
          <a:xfrm>
            <a:off x="1958339" y="1099502"/>
            <a:ext cx="501396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(Test set)</a:t>
            </a:r>
          </a:p>
        </p:txBody>
      </p:sp>
      <p:sp>
        <p:nvSpPr>
          <p:cNvPr id="14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1" name="Content Placeholder 2"/>
          <p:cNvSpPr txBox="1"/>
          <p:nvPr/>
        </p:nvSpPr>
        <p:spPr>
          <a:xfrm>
            <a:off x="457200" y="3912871"/>
            <a:ext cx="8229601" cy="1188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defTabSz="325754">
              <a:spcBef>
                <a:spcPts val="500"/>
              </a:spcBef>
              <a:defRPr b="1" sz="2090"/>
            </a:pPr>
            <a:r>
              <a:t>Pilot proposal:</a:t>
            </a:r>
          </a:p>
          <a:p>
            <a:pPr defTabSz="325754">
              <a:spcBef>
                <a:spcPts val="500"/>
              </a:spcBef>
              <a:defRPr sz="1900"/>
            </a:pPr>
            <a:r>
              <a:t>Stage a conservative pilot using calibrated XGBoost at 0.10 threshold; </a:t>
            </a:r>
          </a:p>
          <a:p>
            <a:pPr lvl="1" indent="217170" defTabSz="325754">
              <a:spcBef>
                <a:spcPts val="500"/>
              </a:spcBef>
              <a:defRPr sz="1900"/>
            </a:pPr>
            <a:r>
              <a:t>run A/B test measuring uplift vs control using operational LTV and outreach cost.</a:t>
            </a:r>
          </a:p>
        </p:txBody>
      </p:sp>
      <p:sp>
        <p:nvSpPr>
          <p:cNvPr id="142" name="Decision thresholds"/>
          <p:cNvSpPr txBox="1"/>
          <p:nvPr>
            <p:ph type="title"/>
          </p:nvPr>
        </p:nvSpPr>
        <p:spPr>
          <a:xfrm>
            <a:off x="406401" y="152399"/>
            <a:ext cx="4607561" cy="566775"/>
          </a:xfrm>
          <a:prstGeom prst="rect">
            <a:avLst/>
          </a:prstGeom>
        </p:spPr>
        <p:txBody>
          <a:bodyPr/>
          <a:lstStyle>
            <a:lvl1pPr>
              <a:spcBef>
                <a:spcPts val="200"/>
              </a:spcBef>
              <a:buFont typeface="Arial"/>
              <a:defRPr b="0" i="1" sz="2300"/>
            </a:lvl1pPr>
          </a:lstStyle>
          <a:p>
            <a:pPr/>
            <a:r>
              <a:t>Decision thresholds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Placeholder 3"/>
          <p:cNvSpPr txBox="1"/>
          <p:nvPr>
            <p:ph type="body" sz="half" idx="1"/>
          </p:nvPr>
        </p:nvSpPr>
        <p:spPr>
          <a:xfrm>
            <a:off x="457200" y="1076326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None/>
              <a:defRPr b="1" sz="1200"/>
            </a:pPr>
            <a:r>
              <a:t>Live demo will show:</a:t>
            </a:r>
            <a:br/>
          </a:p>
          <a:p>
            <a:pPr marL="0" indent="0">
              <a:spcBef>
                <a:spcPts val="200"/>
              </a:spcBef>
              <a:buSzTx/>
              <a:buNone/>
              <a:defRPr b="1" sz="1000"/>
            </a:pPr>
            <a:r>
              <a:rPr b="0"/>
              <a:t>1. Reload artifacts → confirm provenance and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n_test</a:t>
            </a:r>
            <a:r>
              <a:rPr b="0"/>
              <a:t>.</a:t>
            </a:r>
            <a:br>
              <a:rPr b="0"/>
            </a:br>
            <a:endParaRPr b="0"/>
          </a:p>
          <a:p>
            <a:pPr marL="0" indent="0">
              <a:spcBef>
                <a:spcPts val="200"/>
              </a:spcBef>
              <a:buSzTx/>
              <a:buNone/>
              <a:defRPr b="1" sz="1000"/>
            </a:pPr>
            <a:r>
              <a:rPr b="0"/>
              <a:t>2. Threshold slider → set to </a:t>
            </a:r>
            <a:r>
              <a:t>0.10</a:t>
            </a:r>
            <a:r>
              <a:rPr b="0"/>
              <a:t>; show targeted list and ROI preview.</a:t>
            </a:r>
            <a:br>
              <a:rPr b="0"/>
            </a:br>
            <a:endParaRPr b="0"/>
          </a:p>
          <a:p>
            <a:pPr marL="0" indent="0">
              <a:spcBef>
                <a:spcPts val="200"/>
              </a:spcBef>
              <a:buSzTx/>
              <a:buNone/>
              <a:defRPr b="1" sz="1000"/>
            </a:pPr>
            <a:r>
              <a:rPr b="0"/>
              <a:t>3. Decile filter → inspect top decile and drill to single customer.</a:t>
            </a:r>
            <a:br>
              <a:rPr b="0"/>
            </a:br>
            <a:endParaRPr b="0"/>
          </a:p>
          <a:p>
            <a:pPr marL="0" indent="0">
              <a:spcBef>
                <a:spcPts val="200"/>
              </a:spcBef>
              <a:buSzTx/>
              <a:buNone/>
              <a:defRPr b="1" sz="1000"/>
            </a:pPr>
            <a:r>
              <a:rPr b="0"/>
              <a:t>4. Model insights → top predictors and local SHAP explanation.</a:t>
            </a:r>
          </a:p>
        </p:txBody>
      </p:sp>
      <p:pic>
        <p:nvPicPr>
          <p:cNvPr id="14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68700" y="800100"/>
            <a:ext cx="5105400" cy="318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7" name="App Demo"/>
          <p:cNvSpPr txBox="1"/>
          <p:nvPr>
            <p:ph type="title"/>
          </p:nvPr>
        </p:nvSpPr>
        <p:spPr>
          <a:xfrm>
            <a:off x="457201" y="0"/>
            <a:ext cx="3008314" cy="1076325"/>
          </a:xfrm>
          <a:prstGeom prst="rect">
            <a:avLst/>
          </a:prstGeom>
        </p:spPr>
        <p:txBody>
          <a:bodyPr/>
          <a:lstStyle>
            <a:lvl1pPr>
              <a:spcBef>
                <a:spcPts val="200"/>
              </a:spcBef>
              <a:buFont typeface="Arial"/>
              <a:defRPr b="0" i="1" sz="2400"/>
            </a:lvl1pPr>
          </a:lstStyle>
          <a:p>
            <a:pPr/>
            <a:r>
              <a:t>App Demo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/>
            <a:r>
              <a:t>Exceptionally high ensemble AUCs require final leakage re‑audit and temporal validation.</a:t>
            </a:r>
            <a:br/>
          </a:p>
          <a:p>
            <a:pPr/>
            <a:r>
              <a:t>caret xgbTree inconsistency across environments — reconcile for reproducibility.</a:t>
            </a:r>
            <a:br/>
          </a:p>
          <a:p>
            <a:pPr/>
            <a:r>
              <a:t>Calibration caution at highest decile — use conservative cutoffs for costly outreach.</a:t>
            </a:r>
          </a:p>
        </p:txBody>
      </p:sp>
      <p:sp>
        <p:nvSpPr>
          <p:cNvPr id="15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1" name="Limitations &amp; cautions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</p:spPr>
        <p:txBody>
          <a:bodyPr/>
          <a:lstStyle>
            <a:lvl1pPr algn="l">
              <a:spcBef>
                <a:spcPts val="500"/>
              </a:spcBef>
              <a:buFont typeface="Arial"/>
              <a:defRPr i="1" sz="2400"/>
            </a:lvl1pPr>
          </a:lstStyle>
          <a:p>
            <a:pPr/>
            <a:r>
              <a:t>Limitations &amp; cautions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294894" indent="-294894" defTabSz="294894">
              <a:spcBef>
                <a:spcPts val="400"/>
              </a:spcBef>
              <a:buFontTx/>
              <a:buAutoNum type="arabicPeriod" startAt="1"/>
              <a:defRPr sz="2064"/>
            </a:pPr>
            <a:r>
              <a:t>Final leakage re‑audit and rolling origin validation.</a:t>
            </a:r>
            <a:br/>
          </a:p>
          <a:p>
            <a:pPr marL="294894" indent="-294894" defTabSz="294894">
              <a:spcBef>
                <a:spcPts val="400"/>
              </a:spcBef>
              <a:buFontTx/>
              <a:buAutoNum type="arabicPeriod" startAt="1"/>
              <a:defRPr sz="2064"/>
            </a:pPr>
            <a:r>
              <a:t>Small pilot A/B test using calibrated probabilities and operational LTV/cost inputs.  See pilot plan in repo.</a:t>
            </a:r>
            <a:br/>
          </a:p>
          <a:p>
            <a:pPr marL="294894" indent="-294894" defTabSz="294894">
              <a:spcBef>
                <a:spcPts val="400"/>
              </a:spcBef>
              <a:buFontTx/>
              <a:buAutoNum type="arabicPeriod" startAt="1"/>
              <a:defRPr sz="2064"/>
            </a:pPr>
            <a:r>
              <a:t>Reconcile tuning across environments; document final hyper-parameters.</a:t>
            </a:r>
            <a:br/>
          </a:p>
          <a:p>
            <a:pPr marL="294894" indent="-294894" defTabSz="294894">
              <a:spcBef>
                <a:spcPts val="400"/>
              </a:spcBef>
              <a:buFontTx/>
              <a:buAutoNum type="arabicPeriod" startAt="1"/>
              <a:defRPr sz="2064"/>
            </a:pPr>
            <a:r>
              <a:t>Deploy lightweight Shiny app for ops + publish Tableau dashboard; implement monitoring (weekly AUC, decile drift).</a:t>
            </a:r>
          </a:p>
        </p:txBody>
      </p:sp>
      <p:sp>
        <p:nvSpPr>
          <p:cNvPr id="15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5" name="Recommendations &amp; next steps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</p:spPr>
        <p:txBody>
          <a:bodyPr/>
          <a:lstStyle>
            <a:lvl1pPr algn="l">
              <a:spcBef>
                <a:spcPts val="500"/>
              </a:spcBef>
              <a:buFont typeface="Arial"/>
              <a:defRPr i="1" sz="2400"/>
            </a:lvl1pPr>
          </a:lstStyle>
          <a:p>
            <a:pPr/>
            <a:r>
              <a:t>Recommendations &amp; next steps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/>
            </a:pPr>
            <a:r>
              <a:t>Appendix — One‑page summary and assets (notes slide) </a:t>
            </a:r>
            <a:r>
              <a:rPr b="0"/>
              <a:t>One‑page summary:** attach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OnePager_GeoffreyBruder.pdf</a:t>
            </a:r>
            <a:r>
              <a:rPr b="0"/>
              <a:t> (headline numbers + recommendation).</a:t>
            </a:r>
            <a:br>
              <a:rPr b="0"/>
            </a:br>
            <a:r>
              <a:t>Assets to attach:</a:t>
            </a:r>
            <a:r>
              <a:rPr b="0"/>
              <a:t> ROC overlay PNG, reliability diagram PNG, decile chart PNG, top predictors PNG, demo video (optional).</a:t>
            </a:r>
            <a:br>
              <a:rPr b="0"/>
            </a:br>
            <a:r>
              <a:t>Artifacts path:</a:t>
            </a:r>
            <a:r>
              <a:rPr b="0"/>
              <a:t>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artifacts/project_artifacts.RData</a:t>
            </a:r>
            <a:r>
              <a:rPr b="0"/>
              <a:t> — update params and re-run pipeline to regenerate slides.</a:t>
            </a:r>
          </a:p>
        </p:txBody>
      </p:sp>
      <p:sp>
        <p:nvSpPr>
          <p:cNvPr id="15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