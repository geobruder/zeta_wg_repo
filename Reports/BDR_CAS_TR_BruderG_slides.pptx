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EB Garamon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AC02C8-D7ED-4AF1-83CB-797C17B83CCB}">
  <a:tblStyle styleId="{91AC02C8-D7ED-4AF1-83CB-797C17B83CCB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EBGaramond-italic.fntdata"/><Relationship Id="rId27" Type="http://schemas.openxmlformats.org/officeDocument/2006/relationships/font" Target="fonts/EBGaramo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B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57201" y="204786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57200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9cGnlqPHFgt1s6i22ichs_E46VhcsJPw/view" TargetMode="External"/><Relationship Id="rId5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4294967295" type="ctr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Calibri"/>
              <a:buNone/>
            </a:pPr>
            <a:r>
              <a:rPr i="0" lang="en-US" sz="2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Behavioral Delta Risk 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Calibri"/>
              <a:buNone/>
            </a:pPr>
            <a:r>
              <a:rPr i="0" lang="en-US" sz="2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-  Calibrated Attrition Scoring for Targeted Retention - 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Calibri"/>
              <a:buNone/>
            </a:pPr>
            <a:r>
              <a:rPr i="0" lang="en-US" sz="2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Stakeholder Brief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9" name="Google Shape;69;p15"/>
          <p:cNvSpPr txBox="1"/>
          <p:nvPr>
            <p:ph idx="4294967295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br>
              <a:rPr i="0" lang="en-US" sz="2000" u="none" cap="none" strike="noStrik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br>
              <a:rPr i="0" lang="en-US" sz="2000" u="none" cap="none" strike="noStrik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i="0" lang="en-US" sz="2000" u="none" cap="none" strike="noStrik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rPr>
              <a:t>Geoffrey Bruder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02919" y="4801228"/>
            <a:ext cx="2042162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2026-05-06</a:t>
            </a:r>
            <a:endParaRPr/>
          </a:p>
        </p:txBody>
      </p:sp>
      <p:pic>
        <p:nvPicPr>
          <p:cNvPr id="71" name="Google Shape;71;p15" title="github_repo_qr_hi_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150" y="3232900"/>
            <a:ext cx="1263050" cy="12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342700" y="4495950"/>
            <a:ext cx="3115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https://github.com/geobruder/Zeta_WG_Repo</a:t>
            </a:r>
            <a:endParaRPr sz="8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(No tracking - No redirects)</a:t>
            </a:r>
            <a:endParaRPr sz="8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This project evaluates whether short‑term behavioral deltas improve attrition prediction beyond static demographic and credit features.</a:t>
            </a:r>
            <a:r>
              <a:rPr i="0" lang="en-US" sz="24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i="0" lang="en-US" sz="24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The practical goal is a calibrated probability score suitable for a pilot retention campaign. Th</a:t>
            </a:r>
            <a:r>
              <a:rPr lang="en-US" sz="2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is should serve as a </a:t>
            </a:r>
            <a:r>
              <a:rPr lang="en-US" sz="2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valuable</a:t>
            </a:r>
            <a:r>
              <a:rPr lang="en-US" sz="2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 tool for retention management stakeholders </a:t>
            </a:r>
            <a:r>
              <a:rPr i="0" lang="en-US" sz="24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who need a reliable prioritized list and probability thresholds to set outreach.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8" name="Google Shape;78;p16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rPr>
              <a:t>‹#›</a:t>
            </a:fld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latin typeface="EB Garamond"/>
                <a:ea typeface="EB Garamond"/>
                <a:cs typeface="EB Garamond"/>
                <a:sym typeface="EB Garamond"/>
              </a:rPr>
              <a:t>Background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Outreach is costly; prioritization must maximize ROI.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Short‑term behavioral deltas (recent drops in spend/count, fewer contacts) may signal imminent attrition.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Goal: produce calibrated probabilities for a pilot retention campaign.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5" name="Google Shape;85;p17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Motivation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Question: Do short‑term behavioral deltas improve attrition prediction beyond static features?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Hypothesis: Negative deltas increase attrition risk after controlling for demographics/credit.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Prediction: Models with delta features → higher AUC and lower Brier.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2" name="Google Shape;92;p18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Question, Hypothesis, Prediction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88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4403" lvl="0" marL="23100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Dataset: anonymized BankChurners - (available at source/ in repo)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3" lvl="0" marL="23100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Rows in test set: 3039 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3" lvl="0" marL="23100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Predictor count (approx): see pipeline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3" lvl="0" marL="23100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Key fields: demographics, credit metrics, transaction aggregates, quarter‑to‑quarter deltas.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3" lvl="0" marL="23100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Response: target_attrit (1 = attrited).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2" lvl="0" marL="231006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Note: PseudoID preserved; identifiers and flagged leakage columns removed.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9" name="Google Shape;99;p19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Data at a glance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9249" lvl="0" marL="3428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Amt_Chg_Q4Q1 — </a:t>
            </a: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relative change in transaction amount (Q4 vs Q1).</a:t>
            </a:r>
            <a:b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49249" lvl="0" marL="342899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Ct_Chg_Q4Q1 — </a:t>
            </a: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relative change in transaction count.</a:t>
            </a:r>
            <a:b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49249" lvl="0" marL="342899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Large_Amt_Drop / Large_Ct_Drop — </a:t>
            </a: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binary flags (threshold 0.7).</a:t>
            </a:r>
            <a:b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49249" lvl="0" marL="342899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Recent_Contact_Reduction — </a:t>
            </a: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contacts ≤ 1.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6" name="Google Shape;106;p20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07" name="Google Shape;107;p20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Engineered features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4055" lvl="0" marL="1828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Median imputation; rare‑level consolidation; dummy encoding; zero‑variance removal; winsorize outliers.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194055" lvl="0" marL="182879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Targeted leakage audit removed model‑derived scores and identifiers                      (e.g., Naive_Bayes outputs, CLIENTNUM).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194055" lvl="0" marL="182879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Transformations implemented in a reproducible recipe applied only on training data.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67055" lvl="0" marL="182879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24"/>
              <a:buFont typeface="Calibri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194055" lvl="0" marL="182879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- </a:t>
            </a:r>
            <a:r>
              <a:rPr b="1" lang="en-US" sz="2000">
                <a:latin typeface="EB Garamond"/>
                <a:ea typeface="EB Garamond"/>
                <a:cs typeface="EB Garamond"/>
                <a:sym typeface="EB Garamond"/>
              </a:rPr>
              <a:t>Final leakage re‑audit required</a:t>
            </a: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 — audit performed;                                                       we recommend one more temporal leakage check before production.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3" name="Google Shape;113;p21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Preprocessing &amp; leakage controls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08754" lvl="0" marL="19491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Baselines: static logistic. Enhanced: logistic + deltas.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208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Ensembles: Random Forest (tuned), XGBoost (direct xgboost CV fallback used).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208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Validation: stratified 70/30 train/test; repeated 5‑fold CV × 5 for tuning.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208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Metrics: AUC (discrimination), Brier (calibration), decision thresholds.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81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82"/>
              <a:buFont typeface="Calibri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208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Implementation detail for reproducibility: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Reconcile caret xgbTree behavior across environments — implemented direct xgboost CV fallback and documented divergence.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0" name="Google Shape;120;p22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Modeling overview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312039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4"/>
              <a:buNone/>
            </a:pP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Selected model headline metrics: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312039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84"/>
              <a:buNone/>
            </a:pP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XGBoost AUC: 0.9927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312039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84"/>
              <a:buNone/>
            </a:pP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XGBoost Brier: 0.02282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84"/>
              <a:buNone/>
            </a:pPr>
            <a:r>
              <a:t/>
            </a:r>
            <a:endParaRPr b="1"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i="1" lang="en-US">
                <a:latin typeface="EB Garamond"/>
                <a:ea typeface="EB Garamond"/>
                <a:cs typeface="EB Garamond"/>
                <a:sym typeface="EB Garamond"/>
              </a:rPr>
              <a:t>Summary (from artifacts):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Logit Baseline: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 AUC 0.8724 | Brier 0.0941</a:t>
            </a:r>
            <a:br>
              <a:rPr b="1" lang="en-US"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Logit Enhanced: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 AUC 0.9148 | Brier 0.0739</a:t>
            </a:r>
            <a:br>
              <a:rPr lang="en-US"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Random Forest (tuned):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 AUC ≈ 0.9867 | Brier ≈ 0.03417</a:t>
            </a:r>
            <a:br>
              <a:rPr b="1" lang="en-US"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XGBoost (final, calibrated):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 AUC ≈ 0.9927 | Brier ≈ 0.02282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7" name="Google Shape;127;p23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28" name="Google Shape;128;p23"/>
          <p:cNvSpPr txBox="1"/>
          <p:nvPr>
            <p:ph type="title"/>
          </p:nvPr>
        </p:nvSpPr>
        <p:spPr>
          <a:xfrm>
            <a:off x="67787" y="-214891"/>
            <a:ext cx="82296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Key numeric results (holdout)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" id="133" name="Google Shape;1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800" y="579900"/>
            <a:ext cx="7057524" cy="440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35" name="Google Shape;135;p24"/>
          <p:cNvSpPr txBox="1"/>
          <p:nvPr/>
        </p:nvSpPr>
        <p:spPr>
          <a:xfrm>
            <a:off x="52957" y="-36410"/>
            <a:ext cx="8496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Visual diagnostics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" id="140" name="Google Shape;1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375" y="632800"/>
            <a:ext cx="6999300" cy="43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51561" y="0"/>
            <a:ext cx="5310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600">
                <a:latin typeface="EB Garamond"/>
                <a:ea typeface="EB Garamond"/>
                <a:cs typeface="EB Garamond"/>
                <a:sym typeface="EB Garamond"/>
              </a:rPr>
              <a:t>Calibration: Reliability diagram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Google Shape;147;p26"/>
          <p:cNvGraphicFramePr/>
          <p:nvPr/>
        </p:nvGraphicFramePr>
        <p:xfrm>
          <a:off x="1800860" y="15261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{91AC02C8-D7ED-4AF1-83CB-797C17B83CCB}</a:tableStyleId>
              </a:tblPr>
              <a:tblGrid>
                <a:gridCol w="791750"/>
                <a:gridCol w="791750"/>
                <a:gridCol w="791750"/>
                <a:gridCol w="791750"/>
                <a:gridCol w="791750"/>
                <a:gridCol w="791750"/>
                <a:gridCol w="791750"/>
              </a:tblGrid>
              <a:tr h="44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TP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FP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TN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FN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/>
                    </a:p>
                  </a:txBody>
                  <a:tcPr marT="45725" marB="45725" marR="45725" marL="45725"/>
                </a:tc>
              </a:tr>
              <a:tr h="283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0.01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487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458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2092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0.5153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0.9959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0.02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486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338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2212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0.5898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0.9939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0.05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479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213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2337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10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0.6922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0.9796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0.10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472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143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2407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17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0.7675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0.9652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0.20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462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96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2454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0.8280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0.9448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26"/>
          <p:cNvSpPr txBox="1"/>
          <p:nvPr/>
        </p:nvSpPr>
        <p:spPr>
          <a:xfrm>
            <a:off x="1958339" y="1099502"/>
            <a:ext cx="5013962" cy="333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(Test set)</a:t>
            </a:r>
            <a:endParaRPr/>
          </a:p>
        </p:txBody>
      </p:sp>
      <p:sp>
        <p:nvSpPr>
          <p:cNvPr id="149" name="Google Shape;149;p26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50" name="Google Shape;150;p26"/>
          <p:cNvSpPr txBox="1"/>
          <p:nvPr/>
        </p:nvSpPr>
        <p:spPr>
          <a:xfrm>
            <a:off x="457175" y="3766846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0"/>
              <a:buFont typeface="Calibri"/>
              <a:buNone/>
            </a:pPr>
            <a:r>
              <a:rPr i="0" lang="en-US" sz="19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Pilot proposal:</a:t>
            </a:r>
            <a:endParaRPr sz="19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Stage a conservative pilot using calibrated XGBoost at 0.10 threshold; </a:t>
            </a:r>
            <a:endParaRPr b="1"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217170" lvl="1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run A/B test measuring uplift vs control using operational LTV and outreach cost.</a:t>
            </a:r>
            <a:endParaRPr b="1"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1" name="Google Shape;151;p26"/>
          <p:cNvSpPr txBox="1"/>
          <p:nvPr>
            <p:ph type="title"/>
          </p:nvPr>
        </p:nvSpPr>
        <p:spPr>
          <a:xfrm>
            <a:off x="406401" y="152399"/>
            <a:ext cx="4607561" cy="566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600">
                <a:latin typeface="EB Garamond"/>
                <a:ea typeface="EB Garamond"/>
                <a:cs typeface="EB Garamond"/>
                <a:sym typeface="EB Garamond"/>
              </a:rPr>
              <a:t>Decision thresholds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16625" y="828400"/>
            <a:ext cx="1676400" cy="3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r>
              <a:rPr b="1" lang="en-US" sz="1200">
                <a:latin typeface="EB Garamond"/>
                <a:ea typeface="EB Garamond"/>
                <a:cs typeface="EB Garamond"/>
                <a:sym typeface="EB Garamond"/>
              </a:rPr>
              <a:t>Live demo will show:</a:t>
            </a:r>
            <a:br>
              <a:rPr b="1" lang="en-US" sz="1200">
                <a:latin typeface="EB Garamond"/>
                <a:ea typeface="EB Garamond"/>
                <a:cs typeface="EB Garamond"/>
                <a:sym typeface="EB Garamond"/>
              </a:rPr>
            </a:br>
            <a:endParaRPr sz="1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1. Reload artifacts → confirm provenance and n_test.</a:t>
            </a:r>
            <a:br>
              <a:rPr lang="en-US" sz="1200">
                <a:latin typeface="EB Garamond"/>
                <a:ea typeface="EB Garamond"/>
                <a:cs typeface="EB Garamond"/>
                <a:sym typeface="EB Garamond"/>
              </a:rPr>
            </a:br>
            <a:endParaRPr sz="1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2. Threshold slider → set to </a:t>
            </a:r>
            <a:r>
              <a:rPr b="1" lang="en-US" sz="1200">
                <a:latin typeface="EB Garamond"/>
                <a:ea typeface="EB Garamond"/>
                <a:cs typeface="EB Garamond"/>
                <a:sym typeface="EB Garamond"/>
              </a:rPr>
              <a:t>0.10</a:t>
            </a: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; show targeted list and ROI preview.</a:t>
            </a:r>
            <a:br>
              <a:rPr lang="en-US" sz="1200">
                <a:latin typeface="EB Garamond"/>
                <a:ea typeface="EB Garamond"/>
                <a:cs typeface="EB Garamond"/>
                <a:sym typeface="EB Garamond"/>
              </a:rPr>
            </a:br>
            <a:endParaRPr sz="1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3. Decile filter → inspect top decile and drill to single customer.</a:t>
            </a:r>
            <a:br>
              <a:rPr lang="en-US" sz="1200">
                <a:latin typeface="EB Garamond"/>
                <a:ea typeface="EB Garamond"/>
                <a:cs typeface="EB Garamond"/>
                <a:sym typeface="EB Garamond"/>
              </a:rPr>
            </a:br>
            <a:endParaRPr sz="1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4. Model insights → top predictors and local SHAP explanation.</a:t>
            </a:r>
            <a:endParaRPr sz="1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7" name="Google Shape;157;p27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58" name="Google Shape;158;p27"/>
          <p:cNvSpPr txBox="1"/>
          <p:nvPr>
            <p:ph type="title"/>
          </p:nvPr>
        </p:nvSpPr>
        <p:spPr>
          <a:xfrm>
            <a:off x="457200" y="0"/>
            <a:ext cx="3008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600">
                <a:latin typeface="EB Garamond"/>
                <a:ea typeface="EB Garamond"/>
                <a:cs typeface="EB Garamond"/>
                <a:sym typeface="EB Garamond"/>
              </a:rPr>
              <a:t>App Demo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59" name="Google Shape;159;p27" title="appR_qr_hi_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00" y="4369547"/>
            <a:ext cx="508226" cy="5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7"/>
          <p:cNvSpPr txBox="1"/>
          <p:nvPr/>
        </p:nvSpPr>
        <p:spPr>
          <a:xfrm>
            <a:off x="235275" y="4801225"/>
            <a:ext cx="6806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Explore the app ar https://github.com/geobruder/Zeta_WG_Repo/blob/main/shiny/app.R</a:t>
            </a:r>
            <a:endParaRPr sz="10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61" name="Google Shape;161;p27" title="Screen Recording 2026-05-07 at 12.43.52 AM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5425" y="744600"/>
            <a:ext cx="6746179" cy="3531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Exceptionally high ensemble AUCs require final leakage re‑audit and temporal validation.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caret xgbTree inconsistency across environments — reconcile for reproducibility.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Calibration caution at highest decile — use conservative cutoffs for costly outreach.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7" name="Google Shape;167;p28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68" name="Google Shape;168;p28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Limitations &amp; cautions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03530" lvl="0" marL="2948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AutoNum type="arabicPeriod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Final leakage re‑audit and rolling origin validation.</a:t>
            </a:r>
            <a:br>
              <a:rPr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03530" lvl="0" marL="294894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AutoNum type="arabicPeriod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Small pilot A/B test using calibrated probabilities and operational LTV/cost inputs.  See pilot plan in repo.</a:t>
            </a:r>
            <a:br>
              <a:rPr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03530" lvl="0" marL="294894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AutoNum type="arabicPeriod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Reconcile tuning across environments; document final hyper-parameters.</a:t>
            </a:r>
            <a:br>
              <a:rPr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03530" lvl="0" marL="294894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AutoNum type="arabicPeriod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Deploy lightweight Shiny app for ops + publish Tableau dashboard; implement monitoring (weekly AUC, decile drift).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4" name="Google Shape;174;p29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75" name="Google Shape;175;p29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Recommendations &amp; next steps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576475"/>
            <a:ext cx="8520600" cy="24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Clone the repo at 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&lt;</a:t>
            </a:r>
            <a:r>
              <a:rPr lang="en-US" sz="1000">
                <a:latin typeface="EB Garamond"/>
                <a:ea typeface="EB Garamond"/>
                <a:cs typeface="EB Garamond"/>
                <a:sym typeface="EB Garamond"/>
              </a:rPr>
              <a:t>https://github.com/geobruder/Zeta_WG_Repo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&gt;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, ensure 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artifacts/project_artifacts.RData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 is in 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artifacts/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, run the Shiny app (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shiny::runApp("shiny_app")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 or open 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app.R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), and explore the Threshold slider (set to 0.10), Decile filter (top decile), ROI preview, and customer drilldown with local explanations.</a:t>
            </a:r>
            <a:endParaRPr sz="14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App includes built‑in A/B test scaffolding and monitoring hooks (artifacted model versions, timestamped runs, and weekly AUC/decile drift metrics) to support a staged pilot and ongoing performance tracking.</a:t>
            </a:r>
            <a:endParaRPr sz="14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Tableau Dashboard (UC) is also available for future exploratory analysis and dashboarding of decile performance, cohort trends, and ROI scenarios; use it to supplement the live demo once finalized.</a:t>
            </a:r>
            <a:endParaRPr sz="14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(</a:t>
            </a:r>
            <a:r>
              <a:rPr lang="en-US" sz="1000">
                <a:latin typeface="EB Garamond"/>
                <a:ea typeface="EB Garamond"/>
                <a:cs typeface="EB Garamond"/>
                <a:sym typeface="EB Garamond"/>
              </a:rPr>
              <a:t>https://public.tableau.com/app/profile/geoffrey.bruder/viz/BehavioralDeltaRisk_CalibratedAttritionScoringforTargetedRetention_GB/Dashboard1</a:t>
            </a: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)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1" name="Google Shape;181;p30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82" name="Google Shape;182;p30"/>
          <p:cNvSpPr txBox="1"/>
          <p:nvPr>
            <p:ph type="title"/>
          </p:nvPr>
        </p:nvSpPr>
        <p:spPr>
          <a:xfrm>
            <a:off x="84025" y="-279800"/>
            <a:ext cx="13356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latin typeface="EB Garamond"/>
                <a:ea typeface="EB Garamond"/>
                <a:cs typeface="EB Garamond"/>
                <a:sym typeface="EB Garamond"/>
              </a:rPr>
              <a:t>Appendix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83" name="Google Shape;183;p30" title="tabUC_qr_hi_r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5950" y="3284762"/>
            <a:ext cx="1263050" cy="12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 title="appR_qr_hi_r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2350" y="3300987"/>
            <a:ext cx="1263050" cy="12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/>
          <p:nvPr/>
        </p:nvSpPr>
        <p:spPr>
          <a:xfrm>
            <a:off x="3723224" y="4531574"/>
            <a:ext cx="15354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Project</a:t>
            </a:r>
            <a:r>
              <a:rPr lang="en-US" sz="12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 Repository</a:t>
            </a:r>
            <a:endParaRPr sz="12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(view READ.me)</a:t>
            </a:r>
            <a:endParaRPr sz="10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5676350" y="4515349"/>
            <a:ext cx="1841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Future Tableau Dashboard</a:t>
            </a:r>
            <a:endParaRPr sz="12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(</a:t>
            </a:r>
            <a:r>
              <a:rPr lang="en-US" sz="9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UNDER CONSTRUCTION</a:t>
            </a: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)</a:t>
            </a:r>
            <a:endParaRPr sz="10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1606875" y="4496425"/>
            <a:ext cx="15951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Shiny App Code</a:t>
            </a:r>
            <a:endParaRPr sz="12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(@ Project Repo)</a:t>
            </a:r>
            <a:endParaRPr sz="10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88" name="Google Shape;188;p30" title="appR_qr_hi_r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4950" y="3300987"/>
            <a:ext cx="1263050" cy="12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