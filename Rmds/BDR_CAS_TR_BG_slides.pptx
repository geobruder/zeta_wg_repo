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Proxima Nova"/>
      <p:regular r:id="rId22"/>
      <p:bold r:id="rId23"/>
      <p:italic r:id="rId24"/>
      <p:boldItalic r:id="rId25"/>
    </p:embeddedFont>
    <p:embeddedFont>
      <p:font typeface="EB Garamond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715D2CB-D188-481C-ACCF-BFBB602A5553}">
  <a:tblStyle styleId="{7715D2CB-D188-481C-ACCF-BFBB602A5553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CFD7E7"/>
          </a:solidFill>
        </a:fill>
      </a:tcStyle>
    </a:wholeTbl>
    <a:band1H>
      <a:tcTxStyle/>
    </a:band1H>
    <a:band2H>
      <a:tcTxStyle b="off" i="off"/>
      <a:tcStyle>
        <a:fill>
          <a:solidFill>
            <a:srgbClr val="E8ECF4"/>
          </a:solidFill>
        </a:fill>
      </a:tcStyle>
    </a:band2H>
    <a:band1V>
      <a:tcTxStyle/>
    </a:band1V>
    <a:band2V>
      <a:tcTxStyle/>
    </a:band2V>
    <a:lastCol>
      <a:tcTxStyle/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roximaNova-regular.fntdata"/><Relationship Id="rId21" Type="http://schemas.openxmlformats.org/officeDocument/2006/relationships/slide" Target="slides/slide16.xml"/><Relationship Id="rId24" Type="http://schemas.openxmlformats.org/officeDocument/2006/relationships/font" Target="fonts/ProximaNova-italic.fntdata"/><Relationship Id="rId23" Type="http://schemas.openxmlformats.org/officeDocument/2006/relationships/font" Target="fonts/ProximaNova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EBGaramond-regular.fntdata"/><Relationship Id="rId25" Type="http://schemas.openxmlformats.org/officeDocument/2006/relationships/font" Target="fonts/ProximaNova-boldItalic.fntdata"/><Relationship Id="rId28" Type="http://schemas.openxmlformats.org/officeDocument/2006/relationships/font" Target="fonts/EBGaramond-italic.fntdata"/><Relationship Id="rId27" Type="http://schemas.openxmlformats.org/officeDocument/2006/relationships/font" Target="fonts/EBGaramon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EBGaramon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indent="-228600" lvl="1" marL="9144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indent="-228600" lvl="2" marL="1371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indent="-228600" lvl="3" marL="1828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indent="-228600" lvl="4" marL="22860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8466797" y="4801228"/>
            <a:ext cx="219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457201" y="204786"/>
            <a:ext cx="30084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  <a:defRPr b="1"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575050" y="204788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2" type="body"/>
          </p:nvPr>
        </p:nvSpPr>
        <p:spPr>
          <a:xfrm>
            <a:off x="457200" y="1076326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66797" y="4801228"/>
            <a:ext cx="219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idx="4294967295" type="ctrTitle"/>
          </p:nvPr>
        </p:nvSpPr>
        <p:spPr>
          <a:xfrm>
            <a:off x="685800" y="1597819"/>
            <a:ext cx="7772400" cy="110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10"/>
              <a:buFont typeface="Calibri"/>
              <a:buNone/>
            </a:pPr>
            <a:r>
              <a:rPr i="0" lang="en-US" sz="26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Behavioral Delta Risk </a:t>
            </a:r>
            <a:endParaRPr sz="26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10"/>
              <a:buFont typeface="Calibri"/>
              <a:buNone/>
            </a:pPr>
            <a:r>
              <a:rPr i="0" lang="en-US" sz="26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-  Calibrated Attrition Scoring for Targeted Retention - </a:t>
            </a:r>
            <a:endParaRPr sz="26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10"/>
              <a:buFont typeface="Calibri"/>
              <a:buNone/>
            </a:pPr>
            <a:r>
              <a:rPr i="0" lang="en-US" sz="26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Stakeholder Brief</a:t>
            </a:r>
            <a:endParaRPr sz="26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9" name="Google Shape;69;p15"/>
          <p:cNvSpPr txBox="1"/>
          <p:nvPr>
            <p:ph idx="4294967295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</a:pPr>
            <a:br>
              <a:rPr i="0" lang="en-US" sz="2000" u="none" cap="none" strike="noStrik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rPr>
            </a:br>
            <a:br>
              <a:rPr i="0" lang="en-US" sz="2000" u="none" cap="none" strike="noStrik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rPr>
            </a:br>
            <a:r>
              <a:rPr i="0" lang="en-US" sz="2000" u="none" cap="none" strike="noStrike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rPr>
              <a:t>Geoffrey Bruder</a:t>
            </a:r>
            <a:endParaRPr sz="20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502919" y="4801228"/>
            <a:ext cx="2042162" cy="2059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2026-05-06</a:t>
            </a:r>
            <a:endParaRPr/>
          </a:p>
        </p:txBody>
      </p:sp>
      <p:pic>
        <p:nvPicPr>
          <p:cNvPr id="71" name="Google Shape;71;p15" title="github_repo_qr_hi_r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5150" y="3232900"/>
            <a:ext cx="1263050" cy="12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5342700" y="4495950"/>
            <a:ext cx="3115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accent3"/>
                </a:solidFill>
                <a:latin typeface="EB Garamond"/>
                <a:ea typeface="EB Garamond"/>
                <a:cs typeface="EB Garamond"/>
                <a:sym typeface="EB Garamond"/>
              </a:rPr>
              <a:t>https://github.com/geobruder/Zeta_WG_Repo</a:t>
            </a:r>
            <a:endParaRPr sz="800">
              <a:solidFill>
                <a:schemeClr val="accent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accent3"/>
                </a:solidFill>
                <a:latin typeface="EB Garamond"/>
                <a:ea typeface="EB Garamond"/>
                <a:cs typeface="EB Garamond"/>
                <a:sym typeface="EB Garamond"/>
              </a:rPr>
              <a:t>(No tracking - No redirects)</a:t>
            </a:r>
            <a:endParaRPr sz="800">
              <a:solidFill>
                <a:schemeClr val="accent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t/>
            </a:r>
            <a:endParaRPr i="0" sz="2400" u="none" cap="none" strike="noStrik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i="0" lang="en-US" sz="24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This project evaluates whether short‑term behavioral deltas improve attrition prediction beyond static demographic and credit features.</a:t>
            </a:r>
            <a:r>
              <a:rPr i="0" lang="en-US" sz="24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i="0" lang="en-US" sz="24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The practical goal is a calibrated probability score suitable for a pilot retention campaign. Th</a:t>
            </a:r>
            <a:r>
              <a:rPr lang="en-US" sz="2400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is should serve as a </a:t>
            </a:r>
            <a:r>
              <a:rPr lang="en-US" sz="2400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valuable</a:t>
            </a:r>
            <a:r>
              <a:rPr lang="en-US" sz="2400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 tool for retention management stakeholders </a:t>
            </a:r>
            <a:r>
              <a:rPr i="0" lang="en-US" sz="24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who need a reliable prioritized list and probability thresholds to set outreach.</a:t>
            </a:r>
            <a:endParaRPr sz="24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8" name="Google Shape;78;p16"/>
          <p:cNvSpPr txBox="1"/>
          <p:nvPr>
            <p:ph idx="4294967295" type="sldNum"/>
          </p:nvPr>
        </p:nvSpPr>
        <p:spPr>
          <a:xfrm>
            <a:off x="8524728" y="4801228"/>
            <a:ext cx="162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-US" sz="900">
                <a:solidFill>
                  <a:srgbClr val="888888"/>
                </a:solidFill>
                <a:latin typeface="EB Garamond"/>
                <a:ea typeface="EB Garamond"/>
                <a:cs typeface="EB Garamond"/>
                <a:sym typeface="EB Garamond"/>
              </a:rPr>
              <a:t>‹#›</a:t>
            </a:fld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9" name="Google Shape;79;p16"/>
          <p:cNvSpPr txBox="1"/>
          <p:nvPr>
            <p:ph type="title"/>
          </p:nvPr>
        </p:nvSpPr>
        <p:spPr>
          <a:xfrm>
            <a:off x="457200" y="69056"/>
            <a:ext cx="8229600" cy="1131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1" lang="en-US" sz="2400">
                <a:latin typeface="EB Garamond"/>
                <a:ea typeface="EB Garamond"/>
                <a:cs typeface="EB Garamond"/>
                <a:sym typeface="EB Garamond"/>
              </a:rPr>
              <a:t>Background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302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EB Garamond"/>
              <a:buChar char="●"/>
            </a:pPr>
            <a:r>
              <a:rPr i="0" lang="en-US" sz="22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Outreach is costly; prioritization must maximize ROI.</a:t>
            </a:r>
            <a:br>
              <a:rPr i="0" lang="en-US" sz="22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</a:br>
            <a:endParaRPr sz="2200"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342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EB Garamond"/>
              <a:buChar char="●"/>
            </a:pPr>
            <a:r>
              <a:rPr i="0" lang="en-US" sz="22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Short‑term behavioral deltas (recent drops in spend/count, fewer contacts) may signal imminent attrition.</a:t>
            </a:r>
            <a:br>
              <a:rPr i="0" lang="en-US" sz="22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</a:br>
            <a:endParaRPr sz="2200"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342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EB Garamond"/>
              <a:buChar char="●"/>
            </a:pPr>
            <a:r>
              <a:rPr i="0" lang="en-US" sz="22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Goal: produce calibrated probabilities for a pilot retention campaign.</a:t>
            </a:r>
            <a:endParaRPr sz="22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5" name="Google Shape;85;p17"/>
          <p:cNvSpPr txBox="1"/>
          <p:nvPr>
            <p:ph idx="4294967295" type="sldNum"/>
          </p:nvPr>
        </p:nvSpPr>
        <p:spPr>
          <a:xfrm>
            <a:off x="8524728" y="4801228"/>
            <a:ext cx="162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-US" sz="900">
                <a:solidFill>
                  <a:srgbClr val="888888"/>
                </a:solidFill>
              </a:rPr>
              <a:t>‹#›</a:t>
            </a:fld>
            <a:endParaRPr/>
          </a:p>
        </p:txBody>
      </p:sp>
      <p:sp>
        <p:nvSpPr>
          <p:cNvPr id="86" name="Google Shape;86;p17"/>
          <p:cNvSpPr txBox="1"/>
          <p:nvPr>
            <p:ph type="title"/>
          </p:nvPr>
        </p:nvSpPr>
        <p:spPr>
          <a:xfrm>
            <a:off x="457200" y="69056"/>
            <a:ext cx="8229600" cy="1131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1" lang="en-US" sz="2600">
                <a:latin typeface="EB Garamond"/>
                <a:ea typeface="EB Garamond"/>
                <a:cs typeface="EB Garamond"/>
                <a:sym typeface="EB Garamond"/>
              </a:rPr>
              <a:t>Motivation</a:t>
            </a:r>
            <a:endParaRPr sz="26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302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EB Garamond"/>
              <a:buChar char="●"/>
            </a:pPr>
            <a:r>
              <a:rPr i="0" lang="en-US" sz="22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Question: Do short‑term behavioral deltas improve attrition prediction beyond static features?</a:t>
            </a:r>
            <a:br>
              <a:rPr i="0" lang="en-US" sz="22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</a:br>
            <a:endParaRPr sz="2200"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342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EB Garamond"/>
              <a:buChar char="●"/>
            </a:pPr>
            <a:r>
              <a:rPr i="0" lang="en-US" sz="22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Hypothesis: Negative deltas increase attrition risk after controlling for demographics/credit.</a:t>
            </a:r>
            <a:br>
              <a:rPr i="0" lang="en-US" sz="22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</a:br>
            <a:endParaRPr sz="2200"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342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EB Garamond"/>
              <a:buChar char="●"/>
            </a:pPr>
            <a:r>
              <a:rPr i="0" lang="en-US" sz="22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Prediction: Models with delta features → higher AUC and lower Brier.</a:t>
            </a:r>
            <a:endParaRPr sz="22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2" name="Google Shape;92;p18"/>
          <p:cNvSpPr txBox="1"/>
          <p:nvPr>
            <p:ph idx="4294967295" type="sldNum"/>
          </p:nvPr>
        </p:nvSpPr>
        <p:spPr>
          <a:xfrm>
            <a:off x="8524728" y="4801228"/>
            <a:ext cx="162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-US" sz="900">
                <a:solidFill>
                  <a:srgbClr val="888888"/>
                </a:solidFill>
              </a:rPr>
              <a:t>‹#›</a:t>
            </a:fld>
            <a:endParaRPr/>
          </a:p>
        </p:txBody>
      </p:sp>
      <p:sp>
        <p:nvSpPr>
          <p:cNvPr id="93" name="Google Shape;93;p18"/>
          <p:cNvSpPr txBox="1"/>
          <p:nvPr>
            <p:ph type="title"/>
          </p:nvPr>
        </p:nvSpPr>
        <p:spPr>
          <a:xfrm>
            <a:off x="457200" y="69056"/>
            <a:ext cx="8229600" cy="1131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1" lang="en-US" sz="2600">
                <a:latin typeface="EB Garamond"/>
                <a:ea typeface="EB Garamond"/>
                <a:cs typeface="EB Garamond"/>
                <a:sym typeface="EB Garamond"/>
              </a:rPr>
              <a:t>Question, Hypothesis, Prediction</a:t>
            </a:r>
            <a:endParaRPr sz="26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85881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24403" lvl="0" marL="23100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EB Garamond"/>
              <a:buChar char="●"/>
            </a:pPr>
            <a:r>
              <a:rPr lang="en-US" sz="2200">
                <a:latin typeface="EB Garamond"/>
                <a:ea typeface="EB Garamond"/>
                <a:cs typeface="EB Garamond"/>
                <a:sym typeface="EB Garamond"/>
              </a:rPr>
              <a:t>Dataset: anonymized BankChurners - (available at source/ in repo)</a:t>
            </a:r>
            <a:endParaRPr sz="2200">
              <a:latin typeface="EB Garamond"/>
              <a:ea typeface="EB Garamond"/>
              <a:cs typeface="EB Garamond"/>
              <a:sym typeface="EB Garamond"/>
            </a:endParaRPr>
          </a:p>
          <a:p>
            <a:pPr indent="-224403" lvl="0" marL="231007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EB Garamond"/>
              <a:buChar char="●"/>
            </a:pPr>
            <a:r>
              <a:rPr lang="en-US" sz="2200">
                <a:latin typeface="EB Garamond"/>
                <a:ea typeface="EB Garamond"/>
                <a:cs typeface="EB Garamond"/>
                <a:sym typeface="EB Garamond"/>
              </a:rPr>
              <a:t>Rows in test set: 3039 </a:t>
            </a:r>
            <a:endParaRPr sz="2200">
              <a:latin typeface="EB Garamond"/>
              <a:ea typeface="EB Garamond"/>
              <a:cs typeface="EB Garamond"/>
              <a:sym typeface="EB Garamond"/>
            </a:endParaRPr>
          </a:p>
          <a:p>
            <a:pPr indent="-224403" lvl="0" marL="231007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EB Garamond"/>
              <a:buChar char="●"/>
            </a:pPr>
            <a:r>
              <a:rPr lang="en-US" sz="2200">
                <a:latin typeface="EB Garamond"/>
                <a:ea typeface="EB Garamond"/>
                <a:cs typeface="EB Garamond"/>
                <a:sym typeface="EB Garamond"/>
              </a:rPr>
              <a:t>Predictor count (approx): see pipeline</a:t>
            </a:r>
            <a:endParaRPr sz="2200">
              <a:latin typeface="EB Garamond"/>
              <a:ea typeface="EB Garamond"/>
              <a:cs typeface="EB Garamond"/>
              <a:sym typeface="EB Garamond"/>
            </a:endParaRPr>
          </a:p>
          <a:p>
            <a:pPr indent="-224403" lvl="0" marL="231007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EB Garamond"/>
              <a:buChar char="●"/>
            </a:pPr>
            <a:r>
              <a:rPr lang="en-US" sz="2200">
                <a:latin typeface="EB Garamond"/>
                <a:ea typeface="EB Garamond"/>
                <a:cs typeface="EB Garamond"/>
                <a:sym typeface="EB Garamond"/>
              </a:rPr>
              <a:t>Key fields: demographics, credit metrics, transaction aggregates, quarter‑to‑quarter deltas.</a:t>
            </a:r>
            <a:endParaRPr sz="2200">
              <a:latin typeface="EB Garamond"/>
              <a:ea typeface="EB Garamond"/>
              <a:cs typeface="EB Garamond"/>
              <a:sym typeface="EB Garamond"/>
            </a:endParaRPr>
          </a:p>
          <a:p>
            <a:pPr indent="-224403" lvl="0" marL="231007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EB Garamond"/>
              <a:buChar char="●"/>
            </a:pPr>
            <a:r>
              <a:rPr lang="en-US" sz="2200">
                <a:latin typeface="EB Garamond"/>
                <a:ea typeface="EB Garamond"/>
                <a:cs typeface="EB Garamond"/>
                <a:sym typeface="EB Garamond"/>
              </a:rPr>
              <a:t>Response: target_attrit (1 = attrited).</a:t>
            </a:r>
            <a:endParaRPr sz="2200">
              <a:latin typeface="EB Garamond"/>
              <a:ea typeface="EB Garamond"/>
              <a:cs typeface="EB Garamond"/>
              <a:sym typeface="EB Garamond"/>
            </a:endParaRPr>
          </a:p>
          <a:p>
            <a:pPr indent="-224402" lvl="0" marL="231006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EB Garamond"/>
              <a:buChar char="●"/>
            </a:pPr>
            <a:r>
              <a:rPr lang="en-US" sz="2200">
                <a:latin typeface="EB Garamond"/>
                <a:ea typeface="EB Garamond"/>
                <a:cs typeface="EB Garamond"/>
                <a:sym typeface="EB Garamond"/>
              </a:rPr>
              <a:t>Note: PseudoID preserved; identifiers and flagged leakage columns removed.</a:t>
            </a:r>
            <a:endParaRPr sz="22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9" name="Google Shape;99;p19"/>
          <p:cNvSpPr txBox="1"/>
          <p:nvPr>
            <p:ph idx="4294967295" type="sldNum"/>
          </p:nvPr>
        </p:nvSpPr>
        <p:spPr>
          <a:xfrm>
            <a:off x="8524728" y="4801228"/>
            <a:ext cx="162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-US" sz="900">
                <a:solidFill>
                  <a:srgbClr val="888888"/>
                </a:solidFill>
              </a:rPr>
              <a:t>‹#›</a:t>
            </a:fld>
            <a:endParaRPr/>
          </a:p>
        </p:txBody>
      </p:sp>
      <p:sp>
        <p:nvSpPr>
          <p:cNvPr id="100" name="Google Shape;100;p19"/>
          <p:cNvSpPr txBox="1"/>
          <p:nvPr>
            <p:ph type="title"/>
          </p:nvPr>
        </p:nvSpPr>
        <p:spPr>
          <a:xfrm>
            <a:off x="457200" y="69056"/>
            <a:ext cx="8229600" cy="1131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1" lang="en-US" sz="2600">
                <a:latin typeface="EB Garamond"/>
                <a:ea typeface="EB Garamond"/>
                <a:cs typeface="EB Garamond"/>
                <a:sym typeface="EB Garamond"/>
              </a:rPr>
              <a:t>Data at a glance</a:t>
            </a:r>
            <a:endParaRPr sz="26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49249" lvl="0" marL="34289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</a:pPr>
            <a:r>
              <a:rPr lang="en-US" sz="2200">
                <a:latin typeface="EB Garamond"/>
                <a:ea typeface="EB Garamond"/>
                <a:cs typeface="EB Garamond"/>
                <a:sym typeface="EB Garamond"/>
              </a:rPr>
              <a:t>Amt_Chg_Q4Q1 — </a:t>
            </a:r>
            <a:r>
              <a:rPr b="1" lang="en-US" sz="2200">
                <a:latin typeface="EB Garamond"/>
                <a:ea typeface="EB Garamond"/>
                <a:cs typeface="EB Garamond"/>
                <a:sym typeface="EB Garamond"/>
              </a:rPr>
              <a:t>relative change in transaction amount (Q4 vs Q1).</a:t>
            </a:r>
            <a:br>
              <a:rPr b="1" lang="en-US" sz="2200">
                <a:latin typeface="EB Garamond"/>
                <a:ea typeface="EB Garamond"/>
                <a:cs typeface="EB Garamond"/>
                <a:sym typeface="EB Garamond"/>
              </a:rPr>
            </a:br>
            <a:endParaRPr sz="2200">
              <a:latin typeface="EB Garamond"/>
              <a:ea typeface="EB Garamond"/>
              <a:cs typeface="EB Garamond"/>
              <a:sym typeface="EB Garamond"/>
            </a:endParaRPr>
          </a:p>
          <a:p>
            <a:pPr indent="-349249" lvl="0" marL="342899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</a:pPr>
            <a:r>
              <a:rPr lang="en-US" sz="2200">
                <a:latin typeface="EB Garamond"/>
                <a:ea typeface="EB Garamond"/>
                <a:cs typeface="EB Garamond"/>
                <a:sym typeface="EB Garamond"/>
              </a:rPr>
              <a:t>Ct_Chg_Q4Q1 — </a:t>
            </a:r>
            <a:r>
              <a:rPr b="1" lang="en-US" sz="2200">
                <a:latin typeface="EB Garamond"/>
                <a:ea typeface="EB Garamond"/>
                <a:cs typeface="EB Garamond"/>
                <a:sym typeface="EB Garamond"/>
              </a:rPr>
              <a:t>relative change in transaction count.</a:t>
            </a:r>
            <a:br>
              <a:rPr b="1" lang="en-US" sz="2200">
                <a:latin typeface="EB Garamond"/>
                <a:ea typeface="EB Garamond"/>
                <a:cs typeface="EB Garamond"/>
                <a:sym typeface="EB Garamond"/>
              </a:rPr>
            </a:br>
            <a:endParaRPr sz="2200">
              <a:latin typeface="EB Garamond"/>
              <a:ea typeface="EB Garamond"/>
              <a:cs typeface="EB Garamond"/>
              <a:sym typeface="EB Garamond"/>
            </a:endParaRPr>
          </a:p>
          <a:p>
            <a:pPr indent="-349249" lvl="0" marL="342899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</a:pPr>
            <a:r>
              <a:rPr lang="en-US" sz="2200">
                <a:latin typeface="EB Garamond"/>
                <a:ea typeface="EB Garamond"/>
                <a:cs typeface="EB Garamond"/>
                <a:sym typeface="EB Garamond"/>
              </a:rPr>
              <a:t>Large_Amt_Drop / Large_Ct_Drop — </a:t>
            </a:r>
            <a:r>
              <a:rPr b="1" lang="en-US" sz="2200">
                <a:latin typeface="EB Garamond"/>
                <a:ea typeface="EB Garamond"/>
                <a:cs typeface="EB Garamond"/>
                <a:sym typeface="EB Garamond"/>
              </a:rPr>
              <a:t>binary flags (threshold 0.7).</a:t>
            </a:r>
            <a:br>
              <a:rPr b="1" lang="en-US" sz="2200">
                <a:latin typeface="EB Garamond"/>
                <a:ea typeface="EB Garamond"/>
                <a:cs typeface="EB Garamond"/>
                <a:sym typeface="EB Garamond"/>
              </a:rPr>
            </a:br>
            <a:endParaRPr sz="2200">
              <a:latin typeface="EB Garamond"/>
              <a:ea typeface="EB Garamond"/>
              <a:cs typeface="EB Garamond"/>
              <a:sym typeface="EB Garamond"/>
            </a:endParaRPr>
          </a:p>
          <a:p>
            <a:pPr indent="-349249" lvl="0" marL="342899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</a:pPr>
            <a:r>
              <a:rPr lang="en-US" sz="2200">
                <a:latin typeface="EB Garamond"/>
                <a:ea typeface="EB Garamond"/>
                <a:cs typeface="EB Garamond"/>
                <a:sym typeface="EB Garamond"/>
              </a:rPr>
              <a:t>Recent_Contact_Reduction — </a:t>
            </a:r>
            <a:r>
              <a:rPr b="1" lang="en-US" sz="2200">
                <a:latin typeface="EB Garamond"/>
                <a:ea typeface="EB Garamond"/>
                <a:cs typeface="EB Garamond"/>
                <a:sym typeface="EB Garamond"/>
              </a:rPr>
              <a:t>contacts ≤ 1.</a:t>
            </a:r>
            <a:endParaRPr sz="22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06" name="Google Shape;106;p20"/>
          <p:cNvSpPr txBox="1"/>
          <p:nvPr>
            <p:ph idx="4294967295" type="sldNum"/>
          </p:nvPr>
        </p:nvSpPr>
        <p:spPr>
          <a:xfrm>
            <a:off x="8524728" y="4801228"/>
            <a:ext cx="162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-US" sz="900">
                <a:solidFill>
                  <a:srgbClr val="888888"/>
                </a:solidFill>
              </a:rPr>
              <a:t>‹#›</a:t>
            </a:fld>
            <a:endParaRPr/>
          </a:p>
        </p:txBody>
      </p:sp>
      <p:sp>
        <p:nvSpPr>
          <p:cNvPr id="107" name="Google Shape;107;p20"/>
          <p:cNvSpPr txBox="1"/>
          <p:nvPr>
            <p:ph type="title"/>
          </p:nvPr>
        </p:nvSpPr>
        <p:spPr>
          <a:xfrm>
            <a:off x="457200" y="69056"/>
            <a:ext cx="8229600" cy="1131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1" lang="en-US" sz="2600">
                <a:latin typeface="EB Garamond"/>
                <a:ea typeface="EB Garamond"/>
                <a:cs typeface="EB Garamond"/>
                <a:sym typeface="EB Garamond"/>
              </a:rPr>
              <a:t>Engineered features</a:t>
            </a:r>
            <a:endParaRPr sz="26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194055" lvl="0" marL="18287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EB Garamond"/>
              <a:buChar char="●"/>
            </a:pPr>
            <a:r>
              <a:rPr lang="en-US" sz="2000">
                <a:latin typeface="EB Garamond"/>
                <a:ea typeface="EB Garamond"/>
                <a:cs typeface="EB Garamond"/>
                <a:sym typeface="EB Garamond"/>
              </a:rPr>
              <a:t>Median imputation; rare‑level consolidation; dummy encoding; zero‑variance removal; winsorize outliers.</a:t>
            </a:r>
            <a:br>
              <a:rPr lang="en-US" sz="2000">
                <a:latin typeface="EB Garamond"/>
                <a:ea typeface="EB Garamond"/>
                <a:cs typeface="EB Garamond"/>
                <a:sym typeface="EB Garamond"/>
              </a:rPr>
            </a:br>
            <a:endParaRPr sz="2000">
              <a:latin typeface="EB Garamond"/>
              <a:ea typeface="EB Garamond"/>
              <a:cs typeface="EB Garamond"/>
              <a:sym typeface="EB Garamond"/>
            </a:endParaRPr>
          </a:p>
          <a:p>
            <a:pPr indent="-194055" lvl="0" marL="182879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EB Garamond"/>
              <a:buChar char="●"/>
            </a:pPr>
            <a:r>
              <a:rPr lang="en-US" sz="2000">
                <a:latin typeface="EB Garamond"/>
                <a:ea typeface="EB Garamond"/>
                <a:cs typeface="EB Garamond"/>
                <a:sym typeface="EB Garamond"/>
              </a:rPr>
              <a:t>Targeted leakage audit removed model‑derived scores and identifiers                      (e.g., Naive_Bayes outputs, CLIENTNUM).</a:t>
            </a:r>
            <a:br>
              <a:rPr lang="en-US" sz="2000">
                <a:latin typeface="EB Garamond"/>
                <a:ea typeface="EB Garamond"/>
                <a:cs typeface="EB Garamond"/>
                <a:sym typeface="EB Garamond"/>
              </a:rPr>
            </a:br>
            <a:endParaRPr sz="2000">
              <a:latin typeface="EB Garamond"/>
              <a:ea typeface="EB Garamond"/>
              <a:cs typeface="EB Garamond"/>
              <a:sym typeface="EB Garamond"/>
            </a:endParaRPr>
          </a:p>
          <a:p>
            <a:pPr indent="-194055" lvl="0" marL="182879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EB Garamond"/>
              <a:buChar char="●"/>
            </a:pPr>
            <a:r>
              <a:rPr lang="en-US" sz="2000">
                <a:latin typeface="EB Garamond"/>
                <a:ea typeface="EB Garamond"/>
                <a:cs typeface="EB Garamond"/>
                <a:sym typeface="EB Garamond"/>
              </a:rPr>
              <a:t>Transformations implemented in a reproducible recipe applied only on training data.</a:t>
            </a:r>
            <a:endParaRPr sz="2000">
              <a:latin typeface="EB Garamond"/>
              <a:ea typeface="EB Garamond"/>
              <a:cs typeface="EB Garamond"/>
              <a:sym typeface="EB Garamond"/>
            </a:endParaRPr>
          </a:p>
          <a:p>
            <a:pPr indent="-67055" lvl="0" marL="182879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24"/>
              <a:buFont typeface="Calibri"/>
              <a:buNone/>
            </a:pPr>
            <a:r>
              <a:t/>
            </a:r>
            <a:endParaRPr sz="2000">
              <a:latin typeface="EB Garamond"/>
              <a:ea typeface="EB Garamond"/>
              <a:cs typeface="EB Garamond"/>
              <a:sym typeface="EB Garamond"/>
            </a:endParaRPr>
          </a:p>
          <a:p>
            <a:pPr indent="-194055" lvl="0" marL="182879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●"/>
            </a:pPr>
            <a:r>
              <a:rPr lang="en-US" sz="2000">
                <a:latin typeface="EB Garamond"/>
                <a:ea typeface="EB Garamond"/>
                <a:cs typeface="EB Garamond"/>
                <a:sym typeface="EB Garamond"/>
              </a:rPr>
              <a:t>- </a:t>
            </a:r>
            <a:r>
              <a:rPr b="1" lang="en-US" sz="2000">
                <a:latin typeface="EB Garamond"/>
                <a:ea typeface="EB Garamond"/>
                <a:cs typeface="EB Garamond"/>
                <a:sym typeface="EB Garamond"/>
              </a:rPr>
              <a:t>Final leakage re‑audit required</a:t>
            </a:r>
            <a:r>
              <a:rPr lang="en-US" sz="2000">
                <a:latin typeface="EB Garamond"/>
                <a:ea typeface="EB Garamond"/>
                <a:cs typeface="EB Garamond"/>
                <a:sym typeface="EB Garamond"/>
              </a:rPr>
              <a:t> — audit performed;                                                       we recommend one more temporal leakage check before production.</a:t>
            </a:r>
            <a:endParaRPr sz="20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13" name="Google Shape;113;p21"/>
          <p:cNvSpPr txBox="1"/>
          <p:nvPr>
            <p:ph idx="4294967295" type="sldNum"/>
          </p:nvPr>
        </p:nvSpPr>
        <p:spPr>
          <a:xfrm>
            <a:off x="8524728" y="4801228"/>
            <a:ext cx="162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-US" sz="900">
                <a:solidFill>
                  <a:srgbClr val="888888"/>
                </a:solidFill>
              </a:rPr>
              <a:t>‹#›</a:t>
            </a:fld>
            <a:endParaRPr/>
          </a:p>
        </p:txBody>
      </p:sp>
      <p:sp>
        <p:nvSpPr>
          <p:cNvPr id="114" name="Google Shape;114;p21"/>
          <p:cNvSpPr txBox="1"/>
          <p:nvPr>
            <p:ph type="title"/>
          </p:nvPr>
        </p:nvSpPr>
        <p:spPr>
          <a:xfrm>
            <a:off x="457200" y="69056"/>
            <a:ext cx="8229600" cy="1131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1" lang="en-US" sz="2600">
                <a:latin typeface="EB Garamond"/>
                <a:ea typeface="EB Garamond"/>
                <a:cs typeface="EB Garamond"/>
                <a:sym typeface="EB Garamond"/>
              </a:rPr>
              <a:t>Preprocessing &amp; leakage controls</a:t>
            </a:r>
            <a:endParaRPr sz="26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208754" lvl="0" marL="19491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EB Garamond"/>
              <a:buChar char="●"/>
            </a:pPr>
            <a:r>
              <a:rPr lang="en-US" sz="2000">
                <a:latin typeface="EB Garamond"/>
                <a:ea typeface="EB Garamond"/>
                <a:cs typeface="EB Garamond"/>
                <a:sym typeface="EB Garamond"/>
              </a:rPr>
              <a:t>Baselines: static logistic. Enhanced: logistic + deltas.</a:t>
            </a:r>
            <a:br>
              <a:rPr lang="en-US" sz="2000">
                <a:latin typeface="EB Garamond"/>
                <a:ea typeface="EB Garamond"/>
                <a:cs typeface="EB Garamond"/>
                <a:sym typeface="EB Garamond"/>
              </a:rPr>
            </a:br>
            <a:endParaRPr sz="2000">
              <a:latin typeface="EB Garamond"/>
              <a:ea typeface="EB Garamond"/>
              <a:cs typeface="EB Garamond"/>
              <a:sym typeface="EB Garamond"/>
            </a:endParaRPr>
          </a:p>
          <a:p>
            <a:pPr indent="-208754" lvl="0" marL="19491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EB Garamond"/>
              <a:buChar char="●"/>
            </a:pPr>
            <a:r>
              <a:rPr lang="en-US" sz="2000">
                <a:latin typeface="EB Garamond"/>
                <a:ea typeface="EB Garamond"/>
                <a:cs typeface="EB Garamond"/>
                <a:sym typeface="EB Garamond"/>
              </a:rPr>
              <a:t>Ensembles: Random Forest (tuned), XGBoost (direct xgboost CV fallback used).</a:t>
            </a:r>
            <a:br>
              <a:rPr lang="en-US" sz="2000">
                <a:latin typeface="EB Garamond"/>
                <a:ea typeface="EB Garamond"/>
                <a:cs typeface="EB Garamond"/>
                <a:sym typeface="EB Garamond"/>
              </a:rPr>
            </a:br>
            <a:endParaRPr sz="2000">
              <a:latin typeface="EB Garamond"/>
              <a:ea typeface="EB Garamond"/>
              <a:cs typeface="EB Garamond"/>
              <a:sym typeface="EB Garamond"/>
            </a:endParaRPr>
          </a:p>
          <a:p>
            <a:pPr indent="-208754" lvl="0" marL="19491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EB Garamond"/>
              <a:buChar char="●"/>
            </a:pPr>
            <a:r>
              <a:rPr lang="en-US" sz="2000">
                <a:latin typeface="EB Garamond"/>
                <a:ea typeface="EB Garamond"/>
                <a:cs typeface="EB Garamond"/>
                <a:sym typeface="EB Garamond"/>
              </a:rPr>
              <a:t>Validation: stratified 70/30 train/test; repeated 5‑fold CV × 5 for tuning.</a:t>
            </a:r>
            <a:br>
              <a:rPr lang="en-US" sz="2000">
                <a:latin typeface="EB Garamond"/>
                <a:ea typeface="EB Garamond"/>
                <a:cs typeface="EB Garamond"/>
                <a:sym typeface="EB Garamond"/>
              </a:rPr>
            </a:br>
            <a:endParaRPr sz="2000">
              <a:latin typeface="EB Garamond"/>
              <a:ea typeface="EB Garamond"/>
              <a:cs typeface="EB Garamond"/>
              <a:sym typeface="EB Garamond"/>
            </a:endParaRPr>
          </a:p>
          <a:p>
            <a:pPr indent="-208754" lvl="0" marL="19491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EB Garamond"/>
              <a:buChar char="●"/>
            </a:pPr>
            <a:r>
              <a:rPr lang="en-US" sz="2000">
                <a:latin typeface="EB Garamond"/>
                <a:ea typeface="EB Garamond"/>
                <a:cs typeface="EB Garamond"/>
                <a:sym typeface="EB Garamond"/>
              </a:rPr>
              <a:t>Metrics: AUC (discrimination), Brier (calibration), decision thresholds.</a:t>
            </a:r>
            <a:endParaRPr sz="2000">
              <a:latin typeface="EB Garamond"/>
              <a:ea typeface="EB Garamond"/>
              <a:cs typeface="EB Garamond"/>
              <a:sym typeface="EB Garamond"/>
            </a:endParaRPr>
          </a:p>
          <a:p>
            <a:pPr indent="-81754" lvl="0" marL="19491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782"/>
              <a:buFont typeface="Calibri"/>
              <a:buNone/>
            </a:pPr>
            <a:r>
              <a:t/>
            </a:r>
            <a:endParaRPr sz="2000">
              <a:latin typeface="EB Garamond"/>
              <a:ea typeface="EB Garamond"/>
              <a:cs typeface="EB Garamond"/>
              <a:sym typeface="EB Garamond"/>
            </a:endParaRPr>
          </a:p>
          <a:p>
            <a:pPr indent="-208754" lvl="0" marL="194911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EB Garamond"/>
              <a:buChar char="●"/>
            </a:pPr>
            <a:r>
              <a:rPr lang="en-US" sz="2000">
                <a:latin typeface="EB Garamond"/>
                <a:ea typeface="EB Garamond"/>
                <a:cs typeface="EB Garamond"/>
                <a:sym typeface="EB Garamond"/>
              </a:rPr>
              <a:t>Implementation detail for reproducibility:</a:t>
            </a:r>
            <a:br>
              <a:rPr lang="en-US" sz="2000">
                <a:latin typeface="EB Garamond"/>
                <a:ea typeface="EB Garamond"/>
                <a:cs typeface="EB Garamond"/>
                <a:sym typeface="EB Garamond"/>
              </a:rPr>
            </a:br>
            <a:r>
              <a:rPr lang="en-US" sz="2000">
                <a:latin typeface="EB Garamond"/>
                <a:ea typeface="EB Garamond"/>
                <a:cs typeface="EB Garamond"/>
                <a:sym typeface="EB Garamond"/>
              </a:rPr>
              <a:t>Reconcile caret xgbTree behavior across environments — implemented direct xgboost CV fallback and documented divergence.</a:t>
            </a:r>
            <a:endParaRPr sz="20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0" name="Google Shape;120;p22"/>
          <p:cNvSpPr txBox="1"/>
          <p:nvPr>
            <p:ph idx="4294967295" type="sldNum"/>
          </p:nvPr>
        </p:nvSpPr>
        <p:spPr>
          <a:xfrm>
            <a:off x="8524728" y="4801228"/>
            <a:ext cx="162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-US" sz="900">
                <a:solidFill>
                  <a:srgbClr val="888888"/>
                </a:solidFill>
              </a:rPr>
              <a:t>‹#›</a:t>
            </a:fld>
            <a:endParaRPr/>
          </a:p>
        </p:txBody>
      </p:sp>
      <p:sp>
        <p:nvSpPr>
          <p:cNvPr id="121" name="Google Shape;121;p22"/>
          <p:cNvSpPr txBox="1"/>
          <p:nvPr>
            <p:ph type="title"/>
          </p:nvPr>
        </p:nvSpPr>
        <p:spPr>
          <a:xfrm>
            <a:off x="457200" y="69056"/>
            <a:ext cx="8229600" cy="1131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1" lang="en-US" sz="2600">
                <a:latin typeface="EB Garamond"/>
                <a:ea typeface="EB Garamond"/>
                <a:cs typeface="EB Garamond"/>
                <a:sym typeface="EB Garamond"/>
              </a:rPr>
              <a:t>Modeling overview</a:t>
            </a:r>
            <a:endParaRPr sz="26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312039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84"/>
              <a:buNone/>
            </a:pPr>
            <a:r>
              <a:rPr b="1" lang="en-US" sz="2200">
                <a:latin typeface="EB Garamond"/>
                <a:ea typeface="EB Garamond"/>
                <a:cs typeface="EB Garamond"/>
                <a:sym typeface="EB Garamond"/>
              </a:rPr>
              <a:t>Selected model headline metrics:</a:t>
            </a:r>
            <a:endParaRPr sz="2200">
              <a:latin typeface="EB Garamond"/>
              <a:ea typeface="EB Garamond"/>
              <a:cs typeface="EB Garamond"/>
              <a:sym typeface="EB Garamond"/>
            </a:endParaRPr>
          </a:p>
          <a:p>
            <a:pPr indent="312039" lvl="0" marL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84"/>
              <a:buNone/>
            </a:pPr>
            <a:r>
              <a:rPr b="1" lang="en-US" sz="2200">
                <a:latin typeface="EB Garamond"/>
                <a:ea typeface="EB Garamond"/>
                <a:cs typeface="EB Garamond"/>
                <a:sym typeface="EB Garamond"/>
              </a:rPr>
              <a:t>XGBoost AUC: 0.9927</a:t>
            </a:r>
            <a:endParaRPr sz="2200">
              <a:latin typeface="EB Garamond"/>
              <a:ea typeface="EB Garamond"/>
              <a:cs typeface="EB Garamond"/>
              <a:sym typeface="EB Garamond"/>
            </a:endParaRPr>
          </a:p>
          <a:p>
            <a:pPr indent="312039" lvl="0" marL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84"/>
              <a:buNone/>
            </a:pPr>
            <a:r>
              <a:rPr b="1" lang="en-US" sz="2200">
                <a:latin typeface="EB Garamond"/>
                <a:ea typeface="EB Garamond"/>
                <a:cs typeface="EB Garamond"/>
                <a:sym typeface="EB Garamond"/>
              </a:rPr>
              <a:t>XGBoost Brier: 0.02282</a:t>
            </a:r>
            <a:endParaRPr sz="22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84"/>
              <a:buNone/>
            </a:pPr>
            <a:r>
              <a:t/>
            </a:r>
            <a:endParaRPr b="1" sz="22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libri"/>
              <a:buNone/>
            </a:pPr>
            <a:r>
              <a:rPr i="1" lang="en-US">
                <a:latin typeface="EB Garamond"/>
                <a:ea typeface="EB Garamond"/>
                <a:cs typeface="EB Garamond"/>
                <a:sym typeface="EB Garamond"/>
              </a:rPr>
              <a:t>Summary (from artifacts):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libri"/>
              <a:buNone/>
            </a:pPr>
            <a:r>
              <a:rPr lang="en-US">
                <a:latin typeface="EB Garamond"/>
                <a:ea typeface="EB Garamond"/>
                <a:cs typeface="EB Garamond"/>
                <a:sym typeface="EB Garamond"/>
              </a:rPr>
              <a:t>Logit Baseline:</a:t>
            </a:r>
            <a:r>
              <a:rPr b="1" lang="en-US">
                <a:latin typeface="EB Garamond"/>
                <a:ea typeface="EB Garamond"/>
                <a:cs typeface="EB Garamond"/>
                <a:sym typeface="EB Garamond"/>
              </a:rPr>
              <a:t> AUC 0.8724 | Brier 0.0941</a:t>
            </a:r>
            <a:br>
              <a:rPr b="1" lang="en-US">
                <a:latin typeface="EB Garamond"/>
                <a:ea typeface="EB Garamond"/>
                <a:cs typeface="EB Garamond"/>
                <a:sym typeface="EB Garamond"/>
              </a:rPr>
            </a:br>
            <a:r>
              <a:rPr lang="en-US">
                <a:latin typeface="EB Garamond"/>
                <a:ea typeface="EB Garamond"/>
                <a:cs typeface="EB Garamond"/>
                <a:sym typeface="EB Garamond"/>
              </a:rPr>
              <a:t>Logit Enhanced:</a:t>
            </a:r>
            <a:r>
              <a:rPr b="1" lang="en-US">
                <a:latin typeface="EB Garamond"/>
                <a:ea typeface="EB Garamond"/>
                <a:cs typeface="EB Garamond"/>
                <a:sym typeface="EB Garamond"/>
              </a:rPr>
              <a:t> AUC 0.9148 | Brier 0.0739</a:t>
            </a:r>
            <a:br>
              <a:rPr lang="en-US">
                <a:latin typeface="EB Garamond"/>
                <a:ea typeface="EB Garamond"/>
                <a:cs typeface="EB Garamond"/>
                <a:sym typeface="EB Garamond"/>
              </a:rPr>
            </a:br>
            <a:r>
              <a:rPr lang="en-US">
                <a:latin typeface="EB Garamond"/>
                <a:ea typeface="EB Garamond"/>
                <a:cs typeface="EB Garamond"/>
                <a:sym typeface="EB Garamond"/>
              </a:rPr>
              <a:t>Random Forest (tuned):</a:t>
            </a:r>
            <a:r>
              <a:rPr b="1" lang="en-US">
                <a:latin typeface="EB Garamond"/>
                <a:ea typeface="EB Garamond"/>
                <a:cs typeface="EB Garamond"/>
                <a:sym typeface="EB Garamond"/>
              </a:rPr>
              <a:t> AUC ≈ 0.9867 | Brier ≈ 0.03417</a:t>
            </a:r>
            <a:br>
              <a:rPr b="1" lang="en-US">
                <a:latin typeface="EB Garamond"/>
                <a:ea typeface="EB Garamond"/>
                <a:cs typeface="EB Garamond"/>
                <a:sym typeface="EB Garamond"/>
              </a:rPr>
            </a:br>
            <a:r>
              <a:rPr lang="en-US">
                <a:latin typeface="EB Garamond"/>
                <a:ea typeface="EB Garamond"/>
                <a:cs typeface="EB Garamond"/>
                <a:sym typeface="EB Garamond"/>
              </a:rPr>
              <a:t>XGBoost (final, calibrated):</a:t>
            </a:r>
            <a:r>
              <a:rPr b="1" lang="en-US">
                <a:latin typeface="EB Garamond"/>
                <a:ea typeface="EB Garamond"/>
                <a:cs typeface="EB Garamond"/>
                <a:sym typeface="EB Garamond"/>
              </a:rPr>
              <a:t> AUC ≈ 0.9927 | Brier ≈ 0.02282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7" name="Google Shape;127;p23"/>
          <p:cNvSpPr txBox="1"/>
          <p:nvPr>
            <p:ph idx="4294967295" type="sldNum"/>
          </p:nvPr>
        </p:nvSpPr>
        <p:spPr>
          <a:xfrm>
            <a:off x="8524728" y="4801228"/>
            <a:ext cx="162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-US" sz="900">
                <a:solidFill>
                  <a:srgbClr val="888888"/>
                </a:solidFill>
              </a:rPr>
              <a:t>‹#›</a:t>
            </a:fld>
            <a:endParaRPr/>
          </a:p>
        </p:txBody>
      </p:sp>
      <p:sp>
        <p:nvSpPr>
          <p:cNvPr id="128" name="Google Shape;128;p23"/>
          <p:cNvSpPr txBox="1"/>
          <p:nvPr>
            <p:ph type="title"/>
          </p:nvPr>
        </p:nvSpPr>
        <p:spPr>
          <a:xfrm>
            <a:off x="67787" y="-214891"/>
            <a:ext cx="8229600" cy="11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1" lang="en-US" sz="2600">
                <a:latin typeface="EB Garamond"/>
                <a:ea typeface="EB Garamond"/>
                <a:cs typeface="EB Garamond"/>
                <a:sym typeface="EB Garamond"/>
              </a:rPr>
              <a:t>Key numeric results (holdout)</a:t>
            </a:r>
            <a:endParaRPr sz="26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1" id="133" name="Google Shape;13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9800" y="579900"/>
            <a:ext cx="7057524" cy="440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4"/>
          <p:cNvSpPr txBox="1"/>
          <p:nvPr>
            <p:ph idx="4294967295" type="sldNum"/>
          </p:nvPr>
        </p:nvSpPr>
        <p:spPr>
          <a:xfrm>
            <a:off x="8466797" y="4801228"/>
            <a:ext cx="219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-US" sz="900">
                <a:solidFill>
                  <a:srgbClr val="888888"/>
                </a:solidFill>
              </a:rPr>
              <a:t>‹#›</a:t>
            </a:fld>
            <a:endParaRPr/>
          </a:p>
        </p:txBody>
      </p:sp>
      <p:sp>
        <p:nvSpPr>
          <p:cNvPr id="135" name="Google Shape;135;p24"/>
          <p:cNvSpPr txBox="1"/>
          <p:nvPr/>
        </p:nvSpPr>
        <p:spPr>
          <a:xfrm>
            <a:off x="52957" y="-36410"/>
            <a:ext cx="84960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1" lang="en-US" sz="26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Visual diagnostics</a:t>
            </a:r>
            <a:endParaRPr sz="26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1" id="140" name="Google Shape;14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8375" y="632800"/>
            <a:ext cx="6999300" cy="4370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5"/>
          <p:cNvSpPr txBox="1"/>
          <p:nvPr>
            <p:ph idx="4294967295" type="sldNum"/>
          </p:nvPr>
        </p:nvSpPr>
        <p:spPr>
          <a:xfrm>
            <a:off x="8466797" y="4801228"/>
            <a:ext cx="219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-US" sz="900">
                <a:solidFill>
                  <a:srgbClr val="888888"/>
                </a:solidFill>
              </a:rPr>
              <a:t>‹#›</a:t>
            </a:fld>
            <a:endParaRPr/>
          </a:p>
        </p:txBody>
      </p:sp>
      <p:sp>
        <p:nvSpPr>
          <p:cNvPr id="142" name="Google Shape;142;p25"/>
          <p:cNvSpPr txBox="1"/>
          <p:nvPr>
            <p:ph type="title"/>
          </p:nvPr>
        </p:nvSpPr>
        <p:spPr>
          <a:xfrm>
            <a:off x="51561" y="0"/>
            <a:ext cx="53109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600">
                <a:latin typeface="EB Garamond"/>
                <a:ea typeface="EB Garamond"/>
                <a:cs typeface="EB Garamond"/>
                <a:sym typeface="EB Garamond"/>
              </a:rPr>
              <a:t>Calibration: Reliability diagram</a:t>
            </a:r>
            <a:endParaRPr sz="26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7" name="Google Shape;147;p26"/>
          <p:cNvGraphicFramePr/>
          <p:nvPr/>
        </p:nvGraphicFramePr>
        <p:xfrm>
          <a:off x="1800860" y="15261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{7715D2CB-D188-481C-ACCF-BFBB602A5553}</a:tableStyleId>
              </a:tblPr>
              <a:tblGrid>
                <a:gridCol w="791750"/>
                <a:gridCol w="791750"/>
                <a:gridCol w="791750"/>
                <a:gridCol w="791750"/>
                <a:gridCol w="791750"/>
                <a:gridCol w="791750"/>
                <a:gridCol w="791750"/>
              </a:tblGrid>
              <a:tr h="4488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Helvetica Neue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threshold</a:t>
                      </a:r>
                      <a:endParaRPr/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Helvetica Neue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TP</a:t>
                      </a:r>
                      <a:endParaRPr/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Helvetica Neue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FP</a:t>
                      </a:r>
                      <a:endParaRPr/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Helvetica Neue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TN</a:t>
                      </a:r>
                      <a:endParaRPr/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Helvetica Neue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FN</a:t>
                      </a:r>
                      <a:endParaRPr/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Helvetica Neue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/>
                    </a:p>
                  </a:txBody>
                  <a:tcPr marT="45725" marB="45725" marR="45725" marL="457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Helvetica Neue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Recall</a:t>
                      </a:r>
                      <a:endParaRPr/>
                    </a:p>
                  </a:txBody>
                  <a:tcPr marT="45725" marB="45725" marR="45725" marL="45725"/>
                </a:tc>
              </a:tr>
              <a:tr h="2836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0.01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487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458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2092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2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0.5153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0.9959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9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0.02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486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338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2212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3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0.5898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0.9939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9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0.05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479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213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2337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10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0.6922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0.9796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9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0.10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472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143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2407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17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0.7675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0.9652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9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0.20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462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96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2454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27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0.8280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 u="none" cap="none" strike="noStrike"/>
                        <a:t>0.9448</a:t>
                      </a:r>
                      <a:endParaRPr/>
                    </a:p>
                  </a:txBody>
                  <a:tcPr marT="45725" marB="45725" marR="45725" marL="457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8" name="Google Shape;148;p26"/>
          <p:cNvSpPr txBox="1"/>
          <p:nvPr/>
        </p:nvSpPr>
        <p:spPr>
          <a:xfrm>
            <a:off x="1958339" y="1099502"/>
            <a:ext cx="5013962" cy="333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(Test set)</a:t>
            </a:r>
            <a:endParaRPr/>
          </a:p>
        </p:txBody>
      </p:sp>
      <p:sp>
        <p:nvSpPr>
          <p:cNvPr id="149" name="Google Shape;149;p26"/>
          <p:cNvSpPr txBox="1"/>
          <p:nvPr>
            <p:ph idx="4294967295" type="sldNum"/>
          </p:nvPr>
        </p:nvSpPr>
        <p:spPr>
          <a:xfrm>
            <a:off x="8466797" y="4801228"/>
            <a:ext cx="219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-US" sz="900">
                <a:solidFill>
                  <a:srgbClr val="888888"/>
                </a:solidFill>
              </a:rPr>
              <a:t>‹#›</a:t>
            </a:fld>
            <a:endParaRPr/>
          </a:p>
        </p:txBody>
      </p:sp>
      <p:sp>
        <p:nvSpPr>
          <p:cNvPr id="150" name="Google Shape;150;p26"/>
          <p:cNvSpPr txBox="1"/>
          <p:nvPr/>
        </p:nvSpPr>
        <p:spPr>
          <a:xfrm>
            <a:off x="457175" y="3766846"/>
            <a:ext cx="82296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0"/>
              <a:buFont typeface="Calibri"/>
              <a:buNone/>
            </a:pPr>
            <a:r>
              <a:rPr i="0" lang="en-US" sz="19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Pilot proposal:</a:t>
            </a:r>
            <a:endParaRPr sz="19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Stage a conservative pilot using calibrated XGBoost at 0.10 threshold; </a:t>
            </a:r>
            <a:endParaRPr b="1" sz="1600">
              <a:latin typeface="EB Garamond"/>
              <a:ea typeface="EB Garamond"/>
              <a:cs typeface="EB Garamond"/>
              <a:sym typeface="EB Garamond"/>
            </a:endParaRPr>
          </a:p>
          <a:p>
            <a:pPr indent="217170" lvl="1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run A/B test measuring uplift vs control using operational LTV and outreach cost.</a:t>
            </a:r>
            <a:endParaRPr b="1" sz="16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51" name="Google Shape;151;p26"/>
          <p:cNvSpPr txBox="1"/>
          <p:nvPr>
            <p:ph type="title"/>
          </p:nvPr>
        </p:nvSpPr>
        <p:spPr>
          <a:xfrm>
            <a:off x="406401" y="152399"/>
            <a:ext cx="4607561" cy="566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1" lang="en-US" sz="2600">
                <a:latin typeface="EB Garamond"/>
                <a:ea typeface="EB Garamond"/>
                <a:cs typeface="EB Garamond"/>
                <a:sym typeface="EB Garamond"/>
              </a:rPr>
              <a:t>Decision thresholds</a:t>
            </a:r>
            <a:endParaRPr sz="26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416625" y="828400"/>
            <a:ext cx="1676400" cy="3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</a:pPr>
            <a:r>
              <a:rPr b="1" lang="en-US" sz="1200">
                <a:latin typeface="EB Garamond"/>
                <a:ea typeface="EB Garamond"/>
                <a:cs typeface="EB Garamond"/>
                <a:sym typeface="EB Garamond"/>
              </a:rPr>
              <a:t>Live demo will show:</a:t>
            </a:r>
            <a:br>
              <a:rPr b="1" lang="en-US" sz="1200">
                <a:latin typeface="EB Garamond"/>
                <a:ea typeface="EB Garamond"/>
                <a:cs typeface="EB Garamond"/>
                <a:sym typeface="EB Garamond"/>
              </a:rPr>
            </a:br>
            <a:endParaRPr sz="12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rPr lang="en-US" sz="1200">
                <a:latin typeface="EB Garamond"/>
                <a:ea typeface="EB Garamond"/>
                <a:cs typeface="EB Garamond"/>
                <a:sym typeface="EB Garamond"/>
              </a:rPr>
              <a:t>1. Reload artifacts → confirm provenance and n_test.</a:t>
            </a:r>
            <a:br>
              <a:rPr lang="en-US" sz="1200">
                <a:latin typeface="EB Garamond"/>
                <a:ea typeface="EB Garamond"/>
                <a:cs typeface="EB Garamond"/>
                <a:sym typeface="EB Garamond"/>
              </a:rPr>
            </a:br>
            <a:endParaRPr sz="12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rPr lang="en-US" sz="1200">
                <a:latin typeface="EB Garamond"/>
                <a:ea typeface="EB Garamond"/>
                <a:cs typeface="EB Garamond"/>
                <a:sym typeface="EB Garamond"/>
              </a:rPr>
              <a:t>2. Threshold slider → set to </a:t>
            </a:r>
            <a:r>
              <a:rPr b="1" lang="en-US" sz="1200">
                <a:latin typeface="EB Garamond"/>
                <a:ea typeface="EB Garamond"/>
                <a:cs typeface="EB Garamond"/>
                <a:sym typeface="EB Garamond"/>
              </a:rPr>
              <a:t>0.10</a:t>
            </a:r>
            <a:r>
              <a:rPr lang="en-US" sz="1200">
                <a:latin typeface="EB Garamond"/>
                <a:ea typeface="EB Garamond"/>
                <a:cs typeface="EB Garamond"/>
                <a:sym typeface="EB Garamond"/>
              </a:rPr>
              <a:t>; show targeted list and ROI preview.</a:t>
            </a:r>
            <a:br>
              <a:rPr lang="en-US" sz="1200">
                <a:latin typeface="EB Garamond"/>
                <a:ea typeface="EB Garamond"/>
                <a:cs typeface="EB Garamond"/>
                <a:sym typeface="EB Garamond"/>
              </a:rPr>
            </a:br>
            <a:endParaRPr sz="12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rPr lang="en-US" sz="1200">
                <a:latin typeface="EB Garamond"/>
                <a:ea typeface="EB Garamond"/>
                <a:cs typeface="EB Garamond"/>
                <a:sym typeface="EB Garamond"/>
              </a:rPr>
              <a:t>3. Decile filter → inspect top decile and drill to single customer.</a:t>
            </a:r>
            <a:br>
              <a:rPr lang="en-US" sz="1200">
                <a:latin typeface="EB Garamond"/>
                <a:ea typeface="EB Garamond"/>
                <a:cs typeface="EB Garamond"/>
                <a:sym typeface="EB Garamond"/>
              </a:rPr>
            </a:br>
            <a:endParaRPr sz="12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rPr lang="en-US" sz="1200">
                <a:latin typeface="EB Garamond"/>
                <a:ea typeface="EB Garamond"/>
                <a:cs typeface="EB Garamond"/>
                <a:sym typeface="EB Garamond"/>
              </a:rPr>
              <a:t>4. Model insights → top predictors and local SHAP explanation.</a:t>
            </a:r>
            <a:endParaRPr sz="1200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descr="Picture 1" id="157" name="Google Shape;15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3106" y="320111"/>
            <a:ext cx="6878076" cy="429452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7"/>
          <p:cNvSpPr txBox="1"/>
          <p:nvPr>
            <p:ph idx="4294967295" type="sldNum"/>
          </p:nvPr>
        </p:nvSpPr>
        <p:spPr>
          <a:xfrm>
            <a:off x="8466797" y="4801228"/>
            <a:ext cx="219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-US" sz="900">
                <a:solidFill>
                  <a:srgbClr val="888888"/>
                </a:solidFill>
              </a:rPr>
              <a:t>‹#›</a:t>
            </a:fld>
            <a:endParaRPr/>
          </a:p>
        </p:txBody>
      </p:sp>
      <p:sp>
        <p:nvSpPr>
          <p:cNvPr id="159" name="Google Shape;159;p27"/>
          <p:cNvSpPr txBox="1"/>
          <p:nvPr>
            <p:ph type="title"/>
          </p:nvPr>
        </p:nvSpPr>
        <p:spPr>
          <a:xfrm>
            <a:off x="457200" y="0"/>
            <a:ext cx="30084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600">
                <a:latin typeface="EB Garamond"/>
                <a:ea typeface="EB Garamond"/>
                <a:cs typeface="EB Garamond"/>
                <a:sym typeface="EB Garamond"/>
              </a:rPr>
              <a:t>App Demo</a:t>
            </a:r>
            <a:endParaRPr sz="2600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60" name="Google Shape;160;p27" title="appR_qr_hi_re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5500" y="4369547"/>
            <a:ext cx="508226" cy="50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7"/>
          <p:cNvSpPr txBox="1"/>
          <p:nvPr/>
        </p:nvSpPr>
        <p:spPr>
          <a:xfrm>
            <a:off x="235275" y="4801225"/>
            <a:ext cx="68067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chemeClr val="accent3"/>
                </a:solidFill>
                <a:latin typeface="EB Garamond"/>
                <a:ea typeface="EB Garamond"/>
                <a:cs typeface="EB Garamond"/>
                <a:sym typeface="EB Garamond"/>
              </a:rPr>
              <a:t>Explore the app ar https://github.com/geobruder/Zeta_WG_Repo/blob/main/shiny/app.R</a:t>
            </a:r>
            <a:endParaRPr sz="1000">
              <a:solidFill>
                <a:schemeClr val="accent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302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EB Garamond"/>
              <a:buChar char="●"/>
            </a:pPr>
            <a:r>
              <a:rPr i="0" lang="en-US" sz="22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Exceptionally high ensemble AUCs require final leakage re‑audit and temporal validation.</a:t>
            </a:r>
            <a:br>
              <a:rPr i="0" lang="en-US" sz="22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</a:br>
            <a:endParaRPr sz="2200"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342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EB Garamond"/>
              <a:buChar char="●"/>
            </a:pPr>
            <a:r>
              <a:rPr i="0" lang="en-US" sz="22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caret xgbTree inconsistency across environments — reconcile for reproducibility.</a:t>
            </a:r>
            <a:br>
              <a:rPr i="0" lang="en-US" sz="22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</a:br>
            <a:endParaRPr sz="2200"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342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EB Garamond"/>
              <a:buChar char="●"/>
            </a:pPr>
            <a:r>
              <a:rPr i="0" lang="en-US" sz="2200" u="none" cap="none" strike="noStrik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Calibration caution at highest decile — use conservative cutoffs for costly outreach.</a:t>
            </a:r>
            <a:endParaRPr sz="22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67" name="Google Shape;167;p28"/>
          <p:cNvSpPr txBox="1"/>
          <p:nvPr>
            <p:ph idx="4294967295" type="sldNum"/>
          </p:nvPr>
        </p:nvSpPr>
        <p:spPr>
          <a:xfrm>
            <a:off x="8466797" y="4801228"/>
            <a:ext cx="219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-US" sz="900">
                <a:solidFill>
                  <a:srgbClr val="888888"/>
                </a:solidFill>
              </a:rPr>
              <a:t>‹#›</a:t>
            </a:fld>
            <a:endParaRPr/>
          </a:p>
        </p:txBody>
      </p:sp>
      <p:sp>
        <p:nvSpPr>
          <p:cNvPr id="168" name="Google Shape;168;p28"/>
          <p:cNvSpPr txBox="1"/>
          <p:nvPr>
            <p:ph type="title"/>
          </p:nvPr>
        </p:nvSpPr>
        <p:spPr>
          <a:xfrm>
            <a:off x="457200" y="69056"/>
            <a:ext cx="8229600" cy="1131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1" lang="en-US" sz="2600">
                <a:latin typeface="EB Garamond"/>
                <a:ea typeface="EB Garamond"/>
                <a:cs typeface="EB Garamond"/>
                <a:sym typeface="EB Garamond"/>
              </a:rPr>
              <a:t>Limitations &amp; cautions</a:t>
            </a:r>
            <a:endParaRPr sz="26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303530" lvl="0" marL="2948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EB Garamond"/>
              <a:buAutoNum type="arabicPeriod"/>
            </a:pPr>
            <a:r>
              <a:rPr lang="en-US" sz="2200">
                <a:latin typeface="EB Garamond"/>
                <a:ea typeface="EB Garamond"/>
                <a:cs typeface="EB Garamond"/>
                <a:sym typeface="EB Garamond"/>
              </a:rPr>
              <a:t>Final leakage re‑audit and rolling origin validation.</a:t>
            </a:r>
            <a:br>
              <a:rPr lang="en-US" sz="2200">
                <a:latin typeface="EB Garamond"/>
                <a:ea typeface="EB Garamond"/>
                <a:cs typeface="EB Garamond"/>
                <a:sym typeface="EB Garamond"/>
              </a:rPr>
            </a:br>
            <a:endParaRPr sz="2200">
              <a:latin typeface="EB Garamond"/>
              <a:ea typeface="EB Garamond"/>
              <a:cs typeface="EB Garamond"/>
              <a:sym typeface="EB Garamond"/>
            </a:endParaRPr>
          </a:p>
          <a:p>
            <a:pPr indent="-303530" lvl="0" marL="294894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EB Garamond"/>
              <a:buAutoNum type="arabicPeriod"/>
            </a:pPr>
            <a:r>
              <a:rPr lang="en-US" sz="2200">
                <a:latin typeface="EB Garamond"/>
                <a:ea typeface="EB Garamond"/>
                <a:cs typeface="EB Garamond"/>
                <a:sym typeface="EB Garamond"/>
              </a:rPr>
              <a:t>Small pilot A/B test using calibrated probabilities and operational LTV/cost inputs.  See pilot plan in repo.</a:t>
            </a:r>
            <a:br>
              <a:rPr lang="en-US" sz="2200">
                <a:latin typeface="EB Garamond"/>
                <a:ea typeface="EB Garamond"/>
                <a:cs typeface="EB Garamond"/>
                <a:sym typeface="EB Garamond"/>
              </a:rPr>
            </a:br>
            <a:endParaRPr sz="2200">
              <a:latin typeface="EB Garamond"/>
              <a:ea typeface="EB Garamond"/>
              <a:cs typeface="EB Garamond"/>
              <a:sym typeface="EB Garamond"/>
            </a:endParaRPr>
          </a:p>
          <a:p>
            <a:pPr indent="-303530" lvl="0" marL="294894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EB Garamond"/>
              <a:buAutoNum type="arabicPeriod"/>
            </a:pPr>
            <a:r>
              <a:rPr lang="en-US" sz="2200">
                <a:latin typeface="EB Garamond"/>
                <a:ea typeface="EB Garamond"/>
                <a:cs typeface="EB Garamond"/>
                <a:sym typeface="EB Garamond"/>
              </a:rPr>
              <a:t>Reconcile tuning across environments; document final hyper-parameters.</a:t>
            </a:r>
            <a:br>
              <a:rPr lang="en-US" sz="2200">
                <a:latin typeface="EB Garamond"/>
                <a:ea typeface="EB Garamond"/>
                <a:cs typeface="EB Garamond"/>
                <a:sym typeface="EB Garamond"/>
              </a:rPr>
            </a:br>
            <a:endParaRPr sz="2200">
              <a:latin typeface="EB Garamond"/>
              <a:ea typeface="EB Garamond"/>
              <a:cs typeface="EB Garamond"/>
              <a:sym typeface="EB Garamond"/>
            </a:endParaRPr>
          </a:p>
          <a:p>
            <a:pPr indent="-303530" lvl="0" marL="294894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EB Garamond"/>
              <a:buAutoNum type="arabicPeriod"/>
            </a:pPr>
            <a:r>
              <a:rPr lang="en-US" sz="2200">
                <a:latin typeface="EB Garamond"/>
                <a:ea typeface="EB Garamond"/>
                <a:cs typeface="EB Garamond"/>
                <a:sym typeface="EB Garamond"/>
              </a:rPr>
              <a:t>Deploy lightweight Shiny app for ops + publish Tableau dashboard; implement monitoring (weekly AUC, decile drift).</a:t>
            </a:r>
            <a:endParaRPr sz="22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74" name="Google Shape;174;p29"/>
          <p:cNvSpPr txBox="1"/>
          <p:nvPr>
            <p:ph idx="4294967295" type="sldNum"/>
          </p:nvPr>
        </p:nvSpPr>
        <p:spPr>
          <a:xfrm>
            <a:off x="8466797" y="4801228"/>
            <a:ext cx="219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-US" sz="900">
                <a:solidFill>
                  <a:srgbClr val="888888"/>
                </a:solidFill>
              </a:rPr>
              <a:t>‹#›</a:t>
            </a:fld>
            <a:endParaRPr/>
          </a:p>
        </p:txBody>
      </p:sp>
      <p:sp>
        <p:nvSpPr>
          <p:cNvPr id="175" name="Google Shape;175;p29"/>
          <p:cNvSpPr txBox="1"/>
          <p:nvPr>
            <p:ph type="title"/>
          </p:nvPr>
        </p:nvSpPr>
        <p:spPr>
          <a:xfrm>
            <a:off x="457200" y="69056"/>
            <a:ext cx="8229600" cy="1131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1" lang="en-US" sz="2600">
                <a:latin typeface="EB Garamond"/>
                <a:ea typeface="EB Garamond"/>
                <a:cs typeface="EB Garamond"/>
                <a:sym typeface="EB Garamond"/>
              </a:rPr>
              <a:t>Recommendations &amp; next steps</a:t>
            </a:r>
            <a:endParaRPr sz="2600"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0"/>
          <p:cNvSpPr txBox="1"/>
          <p:nvPr>
            <p:ph idx="1" type="body"/>
          </p:nvPr>
        </p:nvSpPr>
        <p:spPr>
          <a:xfrm>
            <a:off x="311700" y="576475"/>
            <a:ext cx="8520600" cy="24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Clone the repo at </a:t>
            </a:r>
            <a:r>
              <a:rPr lang="en-US" sz="1400">
                <a:solidFill>
                  <a:srgbClr val="188038"/>
                </a:solidFill>
                <a:latin typeface="EB Garamond"/>
                <a:ea typeface="EB Garamond"/>
                <a:cs typeface="EB Garamond"/>
                <a:sym typeface="EB Garamond"/>
              </a:rPr>
              <a:t>&lt;</a:t>
            </a:r>
            <a:r>
              <a:rPr lang="en-US" sz="1000">
                <a:latin typeface="EB Garamond"/>
                <a:ea typeface="EB Garamond"/>
                <a:cs typeface="EB Garamond"/>
                <a:sym typeface="EB Garamond"/>
              </a:rPr>
              <a:t>https://github.com/geobruder/Zeta_WG_Repo</a:t>
            </a:r>
            <a:r>
              <a:rPr lang="en-US" sz="1400">
                <a:solidFill>
                  <a:srgbClr val="188038"/>
                </a:solidFill>
                <a:latin typeface="EB Garamond"/>
                <a:ea typeface="EB Garamond"/>
                <a:cs typeface="EB Garamond"/>
                <a:sym typeface="EB Garamond"/>
              </a:rPr>
              <a:t>&gt;</a:t>
            </a:r>
            <a:r>
              <a:rPr lang="en-US" sz="1400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, ensure </a:t>
            </a:r>
            <a:r>
              <a:rPr lang="en-US" sz="1400">
                <a:solidFill>
                  <a:srgbClr val="188038"/>
                </a:solidFill>
                <a:latin typeface="EB Garamond"/>
                <a:ea typeface="EB Garamond"/>
                <a:cs typeface="EB Garamond"/>
                <a:sym typeface="EB Garamond"/>
              </a:rPr>
              <a:t>artifacts/project_artifacts.RData</a:t>
            </a:r>
            <a:r>
              <a:rPr lang="en-US" sz="1400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 is in </a:t>
            </a:r>
            <a:r>
              <a:rPr lang="en-US" sz="1400">
                <a:solidFill>
                  <a:srgbClr val="188038"/>
                </a:solidFill>
                <a:latin typeface="EB Garamond"/>
                <a:ea typeface="EB Garamond"/>
                <a:cs typeface="EB Garamond"/>
                <a:sym typeface="EB Garamond"/>
              </a:rPr>
              <a:t>artifacts/</a:t>
            </a:r>
            <a:r>
              <a:rPr lang="en-US" sz="1400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, run the Shiny app (</a:t>
            </a:r>
            <a:r>
              <a:rPr lang="en-US" sz="1400">
                <a:solidFill>
                  <a:srgbClr val="188038"/>
                </a:solidFill>
                <a:latin typeface="EB Garamond"/>
                <a:ea typeface="EB Garamond"/>
                <a:cs typeface="EB Garamond"/>
                <a:sym typeface="EB Garamond"/>
              </a:rPr>
              <a:t>shiny::runApp("shiny_app")</a:t>
            </a:r>
            <a:r>
              <a:rPr lang="en-US" sz="1400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 or open </a:t>
            </a:r>
            <a:r>
              <a:rPr lang="en-US" sz="1400">
                <a:solidFill>
                  <a:srgbClr val="188038"/>
                </a:solidFill>
                <a:latin typeface="EB Garamond"/>
                <a:ea typeface="EB Garamond"/>
                <a:cs typeface="EB Garamond"/>
                <a:sym typeface="EB Garamond"/>
              </a:rPr>
              <a:t>app.R</a:t>
            </a:r>
            <a:r>
              <a:rPr lang="en-US" sz="1400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), and explore the Threshold slider (set to 0.10), Decile filter (top decile), ROI preview, and customer drilldown with local explanations.</a:t>
            </a:r>
            <a:endParaRPr sz="1400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App includes built‑in A/B test scaffolding and monitoring hooks (artifacted model versions, timestamped runs, and weekly AUC/decile drift metrics) to support a staged pilot and ongoing performance tracking.</a:t>
            </a:r>
            <a:endParaRPr sz="1400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Tableau Dashboard (</a:t>
            </a:r>
            <a:r>
              <a:rPr lang="en-US" sz="1000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under construction</a:t>
            </a:r>
            <a:r>
              <a:rPr lang="en-US" sz="1400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) is also available for future exploratory analysis and dashboarding of decile performance, cohort trends, and ROI scenarios; use it to supplement the live demo once finalized.</a:t>
            </a:r>
            <a:endParaRPr sz="1400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(</a:t>
            </a:r>
            <a:r>
              <a:rPr lang="en-US" sz="1000">
                <a:latin typeface="EB Garamond"/>
                <a:ea typeface="EB Garamond"/>
                <a:cs typeface="EB Garamond"/>
                <a:sym typeface="EB Garamond"/>
              </a:rPr>
              <a:t>https://public.tableau.com/app/profile/geoffrey.bruder/viz/BehavioralDeltaRisk_CalibratedAttritionScoringforTargetedRetention_GB/Dashboard1</a:t>
            </a:r>
            <a:r>
              <a:rPr lang="en-US" sz="1000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)</a:t>
            </a:r>
            <a:endParaRPr sz="1000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1" name="Google Shape;181;p30"/>
          <p:cNvSpPr txBox="1"/>
          <p:nvPr>
            <p:ph idx="4294967295" type="sldNum"/>
          </p:nvPr>
        </p:nvSpPr>
        <p:spPr>
          <a:xfrm>
            <a:off x="8466797" y="4801228"/>
            <a:ext cx="219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-US" sz="900">
                <a:solidFill>
                  <a:srgbClr val="888888"/>
                </a:solidFill>
              </a:rPr>
              <a:t>‹#›</a:t>
            </a:fld>
            <a:endParaRPr/>
          </a:p>
        </p:txBody>
      </p:sp>
      <p:sp>
        <p:nvSpPr>
          <p:cNvPr id="182" name="Google Shape;182;p30"/>
          <p:cNvSpPr txBox="1"/>
          <p:nvPr>
            <p:ph type="title"/>
          </p:nvPr>
        </p:nvSpPr>
        <p:spPr>
          <a:xfrm>
            <a:off x="84025" y="-279800"/>
            <a:ext cx="1335600" cy="7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1" lang="en-US" sz="2400">
                <a:latin typeface="EB Garamond"/>
                <a:ea typeface="EB Garamond"/>
                <a:cs typeface="EB Garamond"/>
                <a:sym typeface="EB Garamond"/>
              </a:rPr>
              <a:t>Appendix</a:t>
            </a:r>
            <a:endParaRPr sz="2400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83" name="Google Shape;183;p30" title="tabUC_qr_hi_re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5950" y="3284762"/>
            <a:ext cx="1263050" cy="126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0" title="appR_qr_hi_res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42350" y="3300987"/>
            <a:ext cx="1263050" cy="12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0"/>
          <p:cNvSpPr txBox="1"/>
          <p:nvPr/>
        </p:nvSpPr>
        <p:spPr>
          <a:xfrm>
            <a:off x="3723224" y="4531574"/>
            <a:ext cx="15354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3"/>
                </a:solidFill>
                <a:latin typeface="EB Garamond"/>
                <a:ea typeface="EB Garamond"/>
                <a:cs typeface="EB Garamond"/>
                <a:sym typeface="EB Garamond"/>
              </a:rPr>
              <a:t>Project</a:t>
            </a:r>
            <a:r>
              <a:rPr lang="en-US" sz="1200">
                <a:solidFill>
                  <a:schemeClr val="accent3"/>
                </a:solidFill>
                <a:latin typeface="EB Garamond"/>
                <a:ea typeface="EB Garamond"/>
                <a:cs typeface="EB Garamond"/>
                <a:sym typeface="EB Garamond"/>
              </a:rPr>
              <a:t> Repository</a:t>
            </a:r>
            <a:endParaRPr sz="1200">
              <a:solidFill>
                <a:schemeClr val="accent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accent3"/>
                </a:solidFill>
                <a:latin typeface="EB Garamond"/>
                <a:ea typeface="EB Garamond"/>
                <a:cs typeface="EB Garamond"/>
                <a:sym typeface="EB Garamond"/>
              </a:rPr>
              <a:t>(view READ.me)</a:t>
            </a:r>
            <a:endParaRPr sz="1000">
              <a:solidFill>
                <a:schemeClr val="accent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6" name="Google Shape;186;p30"/>
          <p:cNvSpPr txBox="1"/>
          <p:nvPr/>
        </p:nvSpPr>
        <p:spPr>
          <a:xfrm>
            <a:off x="5676350" y="4515349"/>
            <a:ext cx="18417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3"/>
                </a:solidFill>
                <a:latin typeface="EB Garamond"/>
                <a:ea typeface="EB Garamond"/>
                <a:cs typeface="EB Garamond"/>
                <a:sym typeface="EB Garamond"/>
              </a:rPr>
              <a:t>Future Tableau Dashboard</a:t>
            </a:r>
            <a:endParaRPr sz="1200">
              <a:solidFill>
                <a:schemeClr val="accent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accent3"/>
                </a:solidFill>
                <a:latin typeface="EB Garamond"/>
                <a:ea typeface="EB Garamond"/>
                <a:cs typeface="EB Garamond"/>
                <a:sym typeface="EB Garamond"/>
              </a:rPr>
              <a:t>(</a:t>
            </a:r>
            <a:r>
              <a:rPr lang="en-US" sz="900">
                <a:solidFill>
                  <a:schemeClr val="accent3"/>
                </a:solidFill>
                <a:latin typeface="EB Garamond"/>
                <a:ea typeface="EB Garamond"/>
                <a:cs typeface="EB Garamond"/>
                <a:sym typeface="EB Garamond"/>
              </a:rPr>
              <a:t>UNDER CONSTRUCTION</a:t>
            </a:r>
            <a:r>
              <a:rPr lang="en-US" sz="1000">
                <a:solidFill>
                  <a:schemeClr val="accent3"/>
                </a:solidFill>
                <a:latin typeface="EB Garamond"/>
                <a:ea typeface="EB Garamond"/>
                <a:cs typeface="EB Garamond"/>
                <a:sym typeface="EB Garamond"/>
              </a:rPr>
              <a:t>)</a:t>
            </a:r>
            <a:endParaRPr sz="1000">
              <a:solidFill>
                <a:schemeClr val="accent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7" name="Google Shape;187;p30"/>
          <p:cNvSpPr txBox="1"/>
          <p:nvPr/>
        </p:nvSpPr>
        <p:spPr>
          <a:xfrm>
            <a:off x="1606875" y="4496425"/>
            <a:ext cx="15951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3"/>
                </a:solidFill>
                <a:latin typeface="EB Garamond"/>
                <a:ea typeface="EB Garamond"/>
                <a:cs typeface="EB Garamond"/>
                <a:sym typeface="EB Garamond"/>
              </a:rPr>
              <a:t>Shiny App Code</a:t>
            </a:r>
            <a:endParaRPr sz="1200">
              <a:solidFill>
                <a:schemeClr val="accent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accent3"/>
                </a:solidFill>
                <a:latin typeface="EB Garamond"/>
                <a:ea typeface="EB Garamond"/>
                <a:cs typeface="EB Garamond"/>
                <a:sym typeface="EB Garamond"/>
              </a:rPr>
              <a:t>(@ Project Repo)</a:t>
            </a:r>
            <a:endParaRPr sz="1000">
              <a:solidFill>
                <a:schemeClr val="accent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88" name="Google Shape;188;p30" title="appR_qr_hi_res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4950" y="3300987"/>
            <a:ext cx="1263050" cy="126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